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wdp" ContentType="image/vnd.ms-photo"/>
  <Default Extension="rels" ContentType="application/vnd.openxmlformats-package.relationships+xml"/>
  <Override PartName="/customXml/itemProps10.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3" r:id="rId3"/>
    <p:sldId id="300" r:id="rId4"/>
    <p:sldId id="301" r:id="rId5"/>
    <p:sldId id="302" r:id="rId6"/>
    <p:sldId id="303" r:id="rId7"/>
    <p:sldId id="304" r:id="rId8"/>
    <p:sldId id="305" r:id="rId9"/>
    <p:sldId id="306" r:id="rId10"/>
    <p:sldId id="307" r:id="rId11"/>
    <p:sldId id="308" r:id="rId12"/>
    <p:sldId id="30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ustomXml" Target="../customXml/item3.xml"/><Relationship Id="rId18" Type="http://schemas.openxmlformats.org/officeDocument/2006/relationships/customXml" Target="../customXml/item2.xml"/><Relationship Id="rId17" Type="http://schemas.openxmlformats.org/officeDocument/2006/relationships/customXml" Target="../customXml/item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vnaga\Documents\JObAAj%20case%20study\DACS19-Pfizer's%20Personalized%20Medicine\Google%20Drive%20files\DACS19%20-%20Pfizer&#8217;s%20Personalised%20Medicine.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vnaga\Documents\JObAAj%20case%20study\DACS19-Pfizer's%20Personalized%20Medicine\Google%20Drive%20files\DACS19%20-%20Pfizer&#8217;s%20Personalised%20Medicine.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vnaga\Documents\JObAAj%20case%20study\DACS19-Pfizer's%20Personalized%20Medicine\Google%20Drive%20files\DACS19%20-%20Pfizer&#8217;s%20Personalised%20Medicine.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vnaga\Documents\JObAAj%20case%20study\DACS19-Pfizer's%20Personalized%20Medicine\Google%20Drive%20files\DACS19%20-%20Pfizer&#8217;s%20Personalised%20Medicine.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vnaga\Documents\JObAAj%20case%20study\DACS19-Pfizer's%20Personalized%20Medicine\Google%20Drive%20files\DACS19%20-%20Pfizer&#8217;s%20Personalised%20Medicin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pivotSource>
    <c:name>[DACS19 - Pfizer’s Personalised Medicine.xlsx]Q1!PivotTable1</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'[DACS19 - Pfizer’s Personalised Medicine.xlsx]Q1'!$B$3</c:f>
              <c:strCache>
                <c:ptCount val="1"/>
                <c:pt idx="0">
                  <c:v>Total</c:v>
                </c:pt>
              </c:strCache>
            </c:strRef>
          </c:tx>
          <c:spPr>
            <a:solidFill>
              <a:schemeClr val="accent2"/>
            </a:solidFill>
            <a:ln>
              <a:noFill/>
            </a:ln>
            <a:effectLst/>
          </c:spPr>
          <c:invertIfNegative val="0"/>
          <c:dLbls>
            <c:delete val="1"/>
          </c:dLbls>
          <c:trendline>
            <c:spPr>
              <a:ln w="19050" cap="rnd">
                <a:solidFill>
                  <a:schemeClr val="accent2"/>
                </a:solidFill>
                <a:prstDash val="sysDot"/>
              </a:ln>
              <a:effectLst/>
            </c:spPr>
            <c:trendlineType val="linear"/>
            <c:dispRSqr val="0"/>
            <c:dispEq val="0"/>
          </c:trendline>
          <c:cat>
            <c:strRef>
              <c:f>'[DACS19 - Pfizer’s Personalised Medicine.xlsx]Q1'!$A$4:$A$10</c:f>
              <c:strCache>
                <c:ptCount val="6"/>
                <c:pt idx="0">
                  <c:v>18-30</c:v>
                </c:pt>
                <c:pt idx="1">
                  <c:v>57-69</c:v>
                </c:pt>
                <c:pt idx="2">
                  <c:v>31-43</c:v>
                </c:pt>
                <c:pt idx="3">
                  <c:v>70-82</c:v>
                </c:pt>
                <c:pt idx="4">
                  <c:v>44-56</c:v>
                </c:pt>
                <c:pt idx="5">
                  <c:v>83-85</c:v>
                </c:pt>
              </c:strCache>
            </c:strRef>
          </c:cat>
          <c:val>
            <c:numRef>
              <c:f>'[DACS19 - Pfizer’s Personalised Medicine.xlsx]Q1'!$B$4:$B$10</c:f>
              <c:numCache>
                <c:formatCode>General</c:formatCode>
                <c:ptCount val="6"/>
                <c:pt idx="0">
                  <c:v>197</c:v>
                </c:pt>
                <c:pt idx="1">
                  <c:v>194</c:v>
                </c:pt>
                <c:pt idx="2">
                  <c:v>194</c:v>
                </c:pt>
                <c:pt idx="3">
                  <c:v>192</c:v>
                </c:pt>
                <c:pt idx="4">
                  <c:v>186</c:v>
                </c:pt>
                <c:pt idx="5">
                  <c:v>37</c:v>
                </c:pt>
              </c:numCache>
            </c:numRef>
          </c:val>
        </c:ser>
        <c:dLbls>
          <c:showLegendKey val="0"/>
          <c:showVal val="0"/>
          <c:showCatName val="0"/>
          <c:showSerName val="0"/>
          <c:showPercent val="0"/>
          <c:showBubbleSize val="0"/>
        </c:dLbls>
        <c:gapWidth val="246"/>
        <c:overlap val="-28"/>
        <c:axId val="889144560"/>
        <c:axId val="135965687"/>
      </c:barChart>
      <c:catAx>
        <c:axId val="88914456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35965687"/>
        <c:crosses val="autoZero"/>
        <c:auto val="1"/>
        <c:lblAlgn val="ctr"/>
        <c:lblOffset val="100"/>
        <c:noMultiLvlLbl val="0"/>
      </c:catAx>
      <c:valAx>
        <c:axId val="135965687"/>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89144560"/>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41301fb-5e3e-4b31-9f3f-6d7c8e775971}"/>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[DACS19 - Pfizer’s Personalised Medicine.xlsx]Q2!PivotTable2</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'[DACS19 - Pfizer’s Personalised Medicine.xlsx]Q2'!$B$3</c:f>
              <c:strCache>
                <c:ptCount val="1"/>
                <c:pt idx="0">
                  <c:v>Total</c:v>
                </c:pt>
              </c:strCache>
            </c:strRef>
          </c:tx>
          <c:spPr>
            <a:solidFill>
              <a:schemeClr val="accent1"/>
            </a:solidFill>
            <a:ln>
              <a:noFill/>
            </a:ln>
            <a:effectLst/>
          </c:spPr>
          <c:invertIfNegative val="0"/>
          <c:dLbls>
            <c:delete val="1"/>
          </c:dLbls>
          <c:cat>
            <c:strRef>
              <c:f>'[DACS19 - Pfizer’s Personalised Medicine.xlsx]Q2'!$A$4:$A$8</c:f>
              <c:strCache>
                <c:ptCount val="4"/>
                <c:pt idx="0">
                  <c:v>Phase I</c:v>
                </c:pt>
                <c:pt idx="1">
                  <c:v>Phase II</c:v>
                </c:pt>
                <c:pt idx="2">
                  <c:v>Phase III</c:v>
                </c:pt>
                <c:pt idx="3">
                  <c:v>Phase IV</c:v>
                </c:pt>
              </c:strCache>
            </c:strRef>
          </c:cat>
          <c:val>
            <c:numRef>
              <c:f>'[DACS19 - Pfizer’s Personalised Medicine.xlsx]Q2'!$B$4:$B$8</c:f>
              <c:numCache>
                <c:formatCode>General</c:formatCode>
                <c:ptCount val="4"/>
                <c:pt idx="0">
                  <c:v>257</c:v>
                </c:pt>
                <c:pt idx="1">
                  <c:v>248</c:v>
                </c:pt>
                <c:pt idx="2">
                  <c:v>255</c:v>
                </c:pt>
                <c:pt idx="3">
                  <c:v>240</c:v>
                </c:pt>
              </c:numCache>
            </c:numRef>
          </c:val>
        </c:ser>
        <c:dLbls>
          <c:showLegendKey val="0"/>
          <c:showVal val="0"/>
          <c:showCatName val="0"/>
          <c:showSerName val="0"/>
          <c:showPercent val="0"/>
          <c:showBubbleSize val="0"/>
        </c:dLbls>
        <c:gapWidth val="246"/>
        <c:overlap val="-28"/>
        <c:axId val="545678579"/>
        <c:axId val="14619850"/>
      </c:barChart>
      <c:catAx>
        <c:axId val="54567857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4619850"/>
        <c:crosses val="autoZero"/>
        <c:auto val="1"/>
        <c:lblAlgn val="ctr"/>
        <c:lblOffset val="100"/>
        <c:noMultiLvlLbl val="0"/>
      </c:catAx>
      <c:valAx>
        <c:axId val="14619850"/>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45678579"/>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81d42030-7600-45ed-8339-918aa7042c0f}"/>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[DACS19 - Pfizer’s Personalised Medicine.xlsx]Q3!PivotTable3</c:name>
    <c:fmtId val="-1"/>
  </c:pivotSource>
  <c:chart>
    <c:autoTitleDeleted val="1"/>
    <c:plotArea>
      <c:layout>
        <c:manualLayout>
          <c:layoutTarget val="inner"/>
          <c:xMode val="edge"/>
          <c:yMode val="edge"/>
          <c:x val="0.171326412918108"/>
          <c:y val="0.0200028989708653"/>
          <c:w val="0.612815789473684"/>
          <c:h val="0.776061283115225"/>
        </c:manualLayout>
      </c:layout>
      <c:barChart>
        <c:barDir val="col"/>
        <c:grouping val="clustered"/>
        <c:varyColors val="0"/>
        <c:ser>
          <c:idx val="0"/>
          <c:order val="0"/>
          <c:tx>
            <c:strRef>
              <c:f>'[DACS19 - Pfizer’s Personalised Medicine.xlsx]Q3'!$B$3:$B$4</c:f>
              <c:strCache>
                <c:ptCount val="1"/>
                <c:pt idx="0">
                  <c:v>Dizziness</c:v>
                </c:pt>
              </c:strCache>
            </c:strRef>
          </c:tx>
          <c:spPr>
            <a:solidFill>
              <a:schemeClr val="accent1"/>
            </a:solidFill>
            <a:ln>
              <a:noFill/>
            </a:ln>
            <a:effectLst/>
          </c:spPr>
          <c:invertIfNegative val="0"/>
          <c:dLbls>
            <c:delete val="1"/>
          </c:dLbls>
          <c:trendline>
            <c:spPr>
              <a:ln w="19050" cap="rnd">
                <a:solidFill>
                  <a:schemeClr val="accent1"/>
                </a:solidFill>
                <a:prstDash val="sysDot"/>
              </a:ln>
              <a:effectLst/>
            </c:spPr>
            <c:trendlineType val="linear"/>
            <c:dispRSqr val="0"/>
            <c:dispEq val="0"/>
          </c:trendline>
          <c:cat>
            <c:strRef>
              <c:f>'[DACS19 - Pfizer’s Personalised Medicine.xlsx]Q3'!$A$5:$A$9</c:f>
              <c:strCache>
                <c:ptCount val="4"/>
                <c:pt idx="0">
                  <c:v>DrugA</c:v>
                </c:pt>
                <c:pt idx="1">
                  <c:v>DrugB</c:v>
                </c:pt>
                <c:pt idx="2">
                  <c:v>DrugC</c:v>
                </c:pt>
                <c:pt idx="3">
                  <c:v>DrugD</c:v>
                </c:pt>
              </c:strCache>
            </c:strRef>
          </c:cat>
          <c:val>
            <c:numRef>
              <c:f>'[DACS19 - Pfizer’s Personalised Medicine.xlsx]Q3'!$B$5:$B$9</c:f>
              <c:numCache>
                <c:formatCode>General</c:formatCode>
                <c:ptCount val="4"/>
                <c:pt idx="0">
                  <c:v>52</c:v>
                </c:pt>
                <c:pt idx="1">
                  <c:v>38</c:v>
                </c:pt>
                <c:pt idx="2">
                  <c:v>57</c:v>
                </c:pt>
                <c:pt idx="3">
                  <c:v>62</c:v>
                </c:pt>
              </c:numCache>
            </c:numRef>
          </c:val>
        </c:ser>
        <c:ser>
          <c:idx val="1"/>
          <c:order val="1"/>
          <c:tx>
            <c:strRef>
              <c:f>'[DACS19 - Pfizer’s Personalised Medicine.xlsx]Q3'!$C$3:$C$4</c:f>
              <c:strCache>
                <c:ptCount val="1"/>
                <c:pt idx="0">
                  <c:v>Fatigue</c:v>
                </c:pt>
              </c:strCache>
            </c:strRef>
          </c:tx>
          <c:spPr>
            <a:solidFill>
              <a:schemeClr val="accent2"/>
            </a:solidFill>
            <a:ln>
              <a:noFill/>
            </a:ln>
            <a:effectLst/>
          </c:spPr>
          <c:invertIfNegative val="0"/>
          <c:dLbls>
            <c:delete val="1"/>
          </c:dLbls>
          <c:cat>
            <c:strRef>
              <c:f>'[DACS19 - Pfizer’s Personalised Medicine.xlsx]Q3'!$A$5:$A$9</c:f>
              <c:strCache>
                <c:ptCount val="4"/>
                <c:pt idx="0">
                  <c:v>DrugA</c:v>
                </c:pt>
                <c:pt idx="1">
                  <c:v>DrugB</c:v>
                </c:pt>
                <c:pt idx="2">
                  <c:v>DrugC</c:v>
                </c:pt>
                <c:pt idx="3">
                  <c:v>DrugD</c:v>
                </c:pt>
              </c:strCache>
            </c:strRef>
          </c:cat>
          <c:val>
            <c:numRef>
              <c:f>'[DACS19 - Pfizer’s Personalised Medicine.xlsx]Q3'!$C$5:$C$9</c:f>
              <c:numCache>
                <c:formatCode>General</c:formatCode>
                <c:ptCount val="4"/>
                <c:pt idx="0">
                  <c:v>55</c:v>
                </c:pt>
                <c:pt idx="1">
                  <c:v>51</c:v>
                </c:pt>
                <c:pt idx="2">
                  <c:v>48</c:v>
                </c:pt>
                <c:pt idx="3">
                  <c:v>51</c:v>
                </c:pt>
              </c:numCache>
            </c:numRef>
          </c:val>
        </c:ser>
        <c:ser>
          <c:idx val="2"/>
          <c:order val="2"/>
          <c:tx>
            <c:strRef>
              <c:f>'[DACS19 - Pfizer’s Personalised Medicine.xlsx]Q3'!$D$3:$D$4</c:f>
              <c:strCache>
                <c:ptCount val="1"/>
                <c:pt idx="0">
                  <c:v>Headache</c:v>
                </c:pt>
              </c:strCache>
            </c:strRef>
          </c:tx>
          <c:spPr>
            <a:solidFill>
              <a:schemeClr val="accent3"/>
            </a:solidFill>
            <a:ln>
              <a:noFill/>
            </a:ln>
            <a:effectLst/>
          </c:spPr>
          <c:invertIfNegative val="0"/>
          <c:dLbls>
            <c:delete val="1"/>
          </c:dLbls>
          <c:cat>
            <c:strRef>
              <c:f>'[DACS19 - Pfizer’s Personalised Medicine.xlsx]Q3'!$A$5:$A$9</c:f>
              <c:strCache>
                <c:ptCount val="4"/>
                <c:pt idx="0">
                  <c:v>DrugA</c:v>
                </c:pt>
                <c:pt idx="1">
                  <c:v>DrugB</c:v>
                </c:pt>
                <c:pt idx="2">
                  <c:v>DrugC</c:v>
                </c:pt>
                <c:pt idx="3">
                  <c:v>DrugD</c:v>
                </c:pt>
              </c:strCache>
            </c:strRef>
          </c:cat>
          <c:val>
            <c:numRef>
              <c:f>'[DACS19 - Pfizer’s Personalised Medicine.xlsx]Q3'!$D$5:$D$9</c:f>
              <c:numCache>
                <c:formatCode>General</c:formatCode>
                <c:ptCount val="4"/>
                <c:pt idx="0">
                  <c:v>45</c:v>
                </c:pt>
                <c:pt idx="1">
                  <c:v>45</c:v>
                </c:pt>
                <c:pt idx="2">
                  <c:v>60</c:v>
                </c:pt>
                <c:pt idx="3">
                  <c:v>56</c:v>
                </c:pt>
              </c:numCache>
            </c:numRef>
          </c:val>
        </c:ser>
        <c:ser>
          <c:idx val="3"/>
          <c:order val="3"/>
          <c:tx>
            <c:strRef>
              <c:f>'[DACS19 - Pfizer’s Personalised Medicine.xlsx]Q3'!$E$3:$E$4</c:f>
              <c:strCache>
                <c:ptCount val="1"/>
                <c:pt idx="0">
                  <c:v>Nausea</c:v>
                </c:pt>
              </c:strCache>
            </c:strRef>
          </c:tx>
          <c:spPr>
            <a:solidFill>
              <a:schemeClr val="accent4"/>
            </a:solidFill>
            <a:ln>
              <a:noFill/>
            </a:ln>
            <a:effectLst/>
          </c:spPr>
          <c:invertIfNegative val="0"/>
          <c:dLbls>
            <c:delete val="1"/>
          </c:dLbls>
          <c:cat>
            <c:strRef>
              <c:f>'[DACS19 - Pfizer’s Personalised Medicine.xlsx]Q3'!$A$5:$A$9</c:f>
              <c:strCache>
                <c:ptCount val="4"/>
                <c:pt idx="0">
                  <c:v>DrugA</c:v>
                </c:pt>
                <c:pt idx="1">
                  <c:v>DrugB</c:v>
                </c:pt>
                <c:pt idx="2">
                  <c:v>DrugC</c:v>
                </c:pt>
                <c:pt idx="3">
                  <c:v>DrugD</c:v>
                </c:pt>
              </c:strCache>
            </c:strRef>
          </c:cat>
          <c:val>
            <c:numRef>
              <c:f>'[DACS19 - Pfizer’s Personalised Medicine.xlsx]Q3'!$E$5:$E$9</c:f>
              <c:numCache>
                <c:formatCode>General</c:formatCode>
                <c:ptCount val="4"/>
                <c:pt idx="0">
                  <c:v>57</c:v>
                </c:pt>
                <c:pt idx="1">
                  <c:v>56</c:v>
                </c:pt>
                <c:pt idx="2">
                  <c:v>58</c:v>
                </c:pt>
                <c:pt idx="3">
                  <c:v>42</c:v>
                </c:pt>
              </c:numCache>
            </c:numRef>
          </c:val>
        </c:ser>
        <c:dLbls>
          <c:showLegendKey val="0"/>
          <c:showVal val="0"/>
          <c:showCatName val="0"/>
          <c:showSerName val="0"/>
          <c:showPercent val="0"/>
          <c:showBubbleSize val="0"/>
        </c:dLbls>
        <c:gapWidth val="246"/>
        <c:overlap val="-28"/>
        <c:axId val="30413695"/>
        <c:axId val="463920016"/>
      </c:barChart>
      <c:catAx>
        <c:axId val="3041369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63920016"/>
        <c:crosses val="autoZero"/>
        <c:auto val="1"/>
        <c:lblAlgn val="ctr"/>
        <c:lblOffset val="100"/>
        <c:noMultiLvlLbl val="0"/>
      </c:catAx>
      <c:valAx>
        <c:axId val="463920016"/>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0413695"/>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11ad1c5-4c4b-443d-a87c-7ef5684fbe45}"/>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[DACS19 - Pfizer’s Personalised Medicine.xlsx]Q4!PivotTable4</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'[DACS19 - Pfizer’s Personalised Medicine.xlsx]Q4'!$B$3</c:f>
              <c:strCache>
                <c:ptCount val="1"/>
                <c:pt idx="0">
                  <c:v>Total</c:v>
                </c:pt>
              </c:strCache>
            </c:strRef>
          </c:tx>
          <c:spPr>
            <a:solidFill>
              <a:schemeClr val="accent1"/>
            </a:solidFill>
            <a:ln>
              <a:noFill/>
            </a:ln>
            <a:effectLst/>
          </c:spPr>
          <c:invertIfNegative val="0"/>
          <c:dLbls>
            <c:delete val="1"/>
          </c:dLbls>
          <c:cat>
            <c:strRef>
              <c:f>'[DACS19 - Pfizer’s Personalised Medicine.xlsx]Q4'!$A$4:$A$9</c:f>
              <c:strCache>
                <c:ptCount val="5"/>
                <c:pt idx="0">
                  <c:v>African American</c:v>
                </c:pt>
                <c:pt idx="1">
                  <c:v>Asian</c:v>
                </c:pt>
                <c:pt idx="2">
                  <c:v>Caucasian</c:v>
                </c:pt>
                <c:pt idx="3">
                  <c:v>Hispanic</c:v>
                </c:pt>
                <c:pt idx="4">
                  <c:v>Other</c:v>
                </c:pt>
              </c:strCache>
            </c:strRef>
          </c:cat>
          <c:val>
            <c:numRef>
              <c:f>'[DACS19 - Pfizer’s Personalised Medicine.xlsx]Q4'!$B$4:$B$9</c:f>
              <c:numCache>
                <c:formatCode>General</c:formatCode>
                <c:ptCount val="5"/>
                <c:pt idx="0">
                  <c:v>208</c:v>
                </c:pt>
                <c:pt idx="1">
                  <c:v>202</c:v>
                </c:pt>
                <c:pt idx="2">
                  <c:v>201</c:v>
                </c:pt>
                <c:pt idx="3">
                  <c:v>198</c:v>
                </c:pt>
                <c:pt idx="4">
                  <c:v>191</c:v>
                </c:pt>
              </c:numCache>
            </c:numRef>
          </c:val>
        </c:ser>
        <c:dLbls>
          <c:showLegendKey val="0"/>
          <c:showVal val="0"/>
          <c:showCatName val="0"/>
          <c:showSerName val="0"/>
          <c:showPercent val="0"/>
          <c:showBubbleSize val="0"/>
        </c:dLbls>
        <c:gapWidth val="246"/>
        <c:overlap val="-28"/>
        <c:axId val="857043453"/>
        <c:axId val="649006108"/>
      </c:barChart>
      <c:catAx>
        <c:axId val="85704345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649006108"/>
        <c:crosses val="autoZero"/>
        <c:auto val="1"/>
        <c:lblAlgn val="ctr"/>
        <c:lblOffset val="100"/>
        <c:noMultiLvlLbl val="0"/>
      </c:catAx>
      <c:valAx>
        <c:axId val="649006108"/>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57043453"/>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2518587e-d4ce-4645-85ff-4551acf0720e}"/>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[DACS19 - Pfizer’s Personalised Medicine.xlsx]Q5!PivotTable6</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'[DACS19 - Pfizer’s Personalised Medicine.xlsx]Q5'!$B$3</c:f>
              <c:strCache>
                <c:ptCount val="1"/>
                <c:pt idx="0">
                  <c:v>Total</c:v>
                </c:pt>
              </c:strCache>
            </c:strRef>
          </c:tx>
          <c:spPr>
            <a:solidFill>
              <a:schemeClr val="accent1"/>
            </a:solidFill>
            <a:ln>
              <a:noFill/>
            </a:ln>
            <a:effectLst/>
          </c:spPr>
          <c:invertIfNegative val="0"/>
          <c:dLbls>
            <c:delete val="1"/>
          </c:dLbls>
          <c:trendline>
            <c:spPr>
              <a:ln w="19050" cap="rnd">
                <a:solidFill>
                  <a:schemeClr val="accent1"/>
                </a:solidFill>
                <a:prstDash val="sysDot"/>
              </a:ln>
              <a:effectLst/>
            </c:spPr>
            <c:trendlineType val="linear"/>
            <c:dispRSqr val="0"/>
            <c:dispEq val="0"/>
          </c:trendline>
          <c:cat>
            <c:strRef>
              <c:f>'[DACS19 - Pfizer’s Personalised Medicine.xlsx]Q5'!$A$4:$A$8</c:f>
              <c:strCache>
                <c:ptCount val="4"/>
                <c:pt idx="0">
                  <c:v>DrugC</c:v>
                </c:pt>
                <c:pt idx="1">
                  <c:v>DrugA</c:v>
                </c:pt>
                <c:pt idx="2">
                  <c:v>DrugD</c:v>
                </c:pt>
                <c:pt idx="3">
                  <c:v>DrugB</c:v>
                </c:pt>
              </c:strCache>
            </c:strRef>
          </c:cat>
          <c:val>
            <c:numRef>
              <c:f>'[DACS19 - Pfizer’s Personalised Medicine.xlsx]Q5'!$B$4:$B$8</c:f>
              <c:numCache>
                <c:formatCode>General</c:formatCode>
                <c:ptCount val="4"/>
                <c:pt idx="0">
                  <c:v>121.851851851852</c:v>
                </c:pt>
                <c:pt idx="1">
                  <c:v>123.770491803279</c:v>
                </c:pt>
                <c:pt idx="2">
                  <c:v>124.701195219124</c:v>
                </c:pt>
                <c:pt idx="3">
                  <c:v>130.63829787234</c:v>
                </c:pt>
              </c:numCache>
            </c:numRef>
          </c:val>
        </c:ser>
        <c:dLbls>
          <c:showLegendKey val="0"/>
          <c:showVal val="0"/>
          <c:showCatName val="0"/>
          <c:showSerName val="0"/>
          <c:showPercent val="0"/>
          <c:showBubbleSize val="0"/>
        </c:dLbls>
        <c:gapWidth val="246"/>
        <c:overlap val="-28"/>
        <c:axId val="912827211"/>
        <c:axId val="525715697"/>
      </c:barChart>
      <c:catAx>
        <c:axId val="91282721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25715697"/>
        <c:crosses val="autoZero"/>
        <c:auto val="1"/>
        <c:lblAlgn val="ctr"/>
        <c:lblOffset val="100"/>
        <c:noMultiLvlLbl val="0"/>
      </c:catAx>
      <c:valAx>
        <c:axId val="525715697"/>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912827211"/>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c7c853ee-e1ba-431d-aa04-036adc71552d}"/>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007533" y="620713"/>
            <a:ext cx="103632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EA0C0817-A112-4847-8014-A94B7D2A4EA3}" type="datetime1">
              <a:rPr lang="en-US" smtClean="0"/>
            </a:fld>
            <a:endParaRPr lang="en-US" dirty="0"/>
          </a:p>
        </p:txBody>
      </p:sp>
      <p:sp>
        <p:nvSpPr>
          <p:cNvPr id="12" name="Rectangle 5"/>
          <p:cNvSpPr>
            <a:spLocks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dirty="0"/>
          </a:p>
        </p:txBody>
      </p:sp>
      <p:sp>
        <p:nvSpPr>
          <p:cNvPr id="13" name="Rectangle 6"/>
          <p:cNvSpPr>
            <a:spLocks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34B7E4EF-A1BD-40F4-AB7B-04F084DD991D}"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332B432-ACDA-4023-A761-2BAB76577B62}" type="datetime1">
              <a:rPr lang="en-US" smtClean="0"/>
            </a:fld>
            <a:endParaRPr lang="en-US" dirty="0"/>
          </a:p>
        </p:txBody>
      </p:sp>
      <p:sp>
        <p:nvSpPr>
          <p:cNvPr id="5" name="Footer Placeholder 4"/>
          <p:cNvSpPr>
            <a:spLocks noGrp="1"/>
          </p:cNvSpPr>
          <p:nvPr>
            <p:ph type="ftr" sz="quarter" idx="11"/>
          </p:nvPr>
        </p:nvSpPr>
        <p:spPr/>
        <p:txBody>
          <a:bodyPr/>
          <a:p>
            <a:endParaRPr lang="en-US" dirty="0"/>
          </a:p>
        </p:txBody>
      </p:sp>
      <p:sp>
        <p:nvSpPr>
          <p:cNvPr id="6" name="Slide Number Placeholder 5"/>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D9C646AA-F36E-4540-911D-FFFC0A0EF24A}" type="datetime1">
              <a:rPr lang="en-US" smtClean="0"/>
            </a:fld>
            <a:endParaRPr lang="en-US" dirty="0"/>
          </a:p>
        </p:txBody>
      </p:sp>
      <p:sp>
        <p:nvSpPr>
          <p:cNvPr id="5" name="Footer Placeholder 4"/>
          <p:cNvSpPr>
            <a:spLocks noGrp="1"/>
          </p:cNvSpPr>
          <p:nvPr>
            <p:ph type="ftr" sz="quarter" idx="11"/>
          </p:nvPr>
        </p:nvSpPr>
        <p:spPr/>
        <p:txBody>
          <a:bodyPr/>
          <a:p>
            <a:endParaRPr lang="en-US" dirty="0"/>
          </a:p>
        </p:txBody>
      </p:sp>
      <p:sp>
        <p:nvSpPr>
          <p:cNvPr id="6" name="Slide Number Placeholder 5"/>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9186D26-FA5F-4637-B602-B7C2DC34CFD4}" type="datetime1">
              <a:rPr lang="en-US" smtClean="0"/>
            </a:fld>
            <a:endParaRPr lang="en-US" dirty="0"/>
          </a:p>
        </p:txBody>
      </p:sp>
      <p:sp>
        <p:nvSpPr>
          <p:cNvPr id="6" name="Footer Placeholder 5"/>
          <p:cNvSpPr>
            <a:spLocks noGrp="1"/>
          </p:cNvSpPr>
          <p:nvPr>
            <p:ph type="ftr" sz="quarter" idx="11"/>
          </p:nvPr>
        </p:nvSpPr>
        <p:spPr/>
        <p:txBody>
          <a:bodyPr/>
          <a:p>
            <a:endParaRPr lang="en-US" dirty="0"/>
          </a:p>
        </p:txBody>
      </p:sp>
      <p:sp>
        <p:nvSpPr>
          <p:cNvPr id="7" name="Slide Number Placeholder 6"/>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8A7F15D8-96D1-4781-BC50-CA8A088B2FE4}" type="datetime1">
              <a:rPr lang="en-US" smtClean="0"/>
            </a:fld>
            <a:endParaRPr lang="en-US" dirty="0"/>
          </a:p>
        </p:txBody>
      </p:sp>
      <p:sp>
        <p:nvSpPr>
          <p:cNvPr id="8" name="Footer Placeholder 7"/>
          <p:cNvSpPr>
            <a:spLocks noGrp="1"/>
          </p:cNvSpPr>
          <p:nvPr>
            <p:ph type="ftr" sz="quarter" idx="11"/>
          </p:nvPr>
        </p:nvSpPr>
        <p:spPr/>
        <p:txBody>
          <a:bodyPr/>
          <a:p>
            <a:endParaRPr lang="en-US" dirty="0"/>
          </a:p>
        </p:txBody>
      </p:sp>
      <p:sp>
        <p:nvSpPr>
          <p:cNvPr id="9" name="Slide Number Placeholder 8"/>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F9A96C99-B8F8-4528-BD05-0E16E943DC09}" type="datetime1">
              <a:rPr lang="en-US" smtClean="0"/>
            </a:fld>
            <a:endParaRPr lang="en-US" dirty="0"/>
          </a:p>
        </p:txBody>
      </p:sp>
      <p:sp>
        <p:nvSpPr>
          <p:cNvPr id="4" name="Footer Placeholder 3"/>
          <p:cNvSpPr>
            <a:spLocks noGrp="1"/>
          </p:cNvSpPr>
          <p:nvPr>
            <p:ph type="ftr" sz="quarter" idx="11"/>
          </p:nvPr>
        </p:nvSpPr>
        <p:spPr/>
        <p:txBody>
          <a:bodyPr/>
          <a:p>
            <a:endParaRPr lang="en-US" dirty="0"/>
          </a:p>
        </p:txBody>
      </p:sp>
      <p:sp>
        <p:nvSpPr>
          <p:cNvPr id="5" name="Slide Number Placeholder 4"/>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03636942-C211-4B28-8DBD-C953E00AF71B}" type="datetime1">
              <a:rPr lang="en-US" smtClean="0"/>
            </a:fld>
            <a:endParaRPr lang="en-US" dirty="0"/>
          </a:p>
        </p:txBody>
      </p:sp>
      <p:sp>
        <p:nvSpPr>
          <p:cNvPr id="3" name="Footer Placeholder 2"/>
          <p:cNvSpPr>
            <a:spLocks noGrp="1"/>
          </p:cNvSpPr>
          <p:nvPr>
            <p:ph type="ftr" sz="quarter" idx="11"/>
          </p:nvPr>
        </p:nvSpPr>
        <p:spPr/>
        <p:txBody>
          <a:bodyPr/>
          <a:p>
            <a:endParaRPr lang="en-US" dirty="0"/>
          </a:p>
        </p:txBody>
      </p:sp>
      <p:sp>
        <p:nvSpPr>
          <p:cNvPr id="4" name="Slide Number Placeholder 3"/>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7E8D12A6-918A-48BD-8CB9-CA713993B0EA}" type="datetime1">
              <a:rPr lang="en-US" smtClean="0"/>
            </a:fld>
            <a:endParaRPr lang="en-US" dirty="0"/>
          </a:p>
        </p:txBody>
      </p:sp>
      <p:sp>
        <p:nvSpPr>
          <p:cNvPr id="6" name="Footer Placeholder 5"/>
          <p:cNvSpPr>
            <a:spLocks noGrp="1"/>
          </p:cNvSpPr>
          <p:nvPr>
            <p:ph type="ftr" sz="quarter" idx="11"/>
          </p:nvPr>
        </p:nvSpPr>
        <p:spPr/>
        <p:txBody>
          <a:bodyPr/>
          <a:p>
            <a:endParaRPr lang="en-US" dirty="0"/>
          </a:p>
        </p:txBody>
      </p:sp>
      <p:sp>
        <p:nvSpPr>
          <p:cNvPr id="7" name="Slide Number Placeholder 6"/>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E778CE86-875F-4587-BCF6-FA054AFC0D53}" type="datetime1">
              <a:rPr lang="en-US" smtClean="0"/>
            </a:fld>
            <a:endParaRPr lang="en-US" dirty="0"/>
          </a:p>
        </p:txBody>
      </p:sp>
      <p:sp>
        <p:nvSpPr>
          <p:cNvPr id="6" name="Footer Placeholder 5"/>
          <p:cNvSpPr>
            <a:spLocks noGrp="1"/>
          </p:cNvSpPr>
          <p:nvPr>
            <p:ph type="ftr" sz="quarter" idx="11"/>
          </p:nvPr>
        </p:nvSpPr>
        <p:spPr/>
        <p:txBody>
          <a:bodyPr/>
          <a:p>
            <a:pPr algn="l"/>
            <a:endParaRPr lang="en-US" dirty="0"/>
          </a:p>
        </p:txBody>
      </p:sp>
      <p:sp>
        <p:nvSpPr>
          <p:cNvPr id="7" name="Slide Number Placeholder 6"/>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134F40B7-36AB-4376-BE14-EF7004D79BB9}" type="datetime1">
              <a:rPr lang="en-US" smtClean="0"/>
            </a:fld>
            <a:endParaRPr lang="en-US" dirty="0"/>
          </a:p>
        </p:txBody>
      </p:sp>
      <p:sp>
        <p:nvSpPr>
          <p:cNvPr id="5" name="Footer Placeholder 4"/>
          <p:cNvSpPr>
            <a:spLocks noGrp="1"/>
          </p:cNvSpPr>
          <p:nvPr>
            <p:ph type="ftr" sz="quarter" idx="11"/>
          </p:nvPr>
        </p:nvSpPr>
        <p:spPr/>
        <p:txBody>
          <a:bodyPr/>
          <a:p>
            <a:endParaRPr lang="en-US" dirty="0"/>
          </a:p>
        </p:txBody>
      </p:sp>
      <p:sp>
        <p:nvSpPr>
          <p:cNvPr id="6" name="Slide Number Placeholder 5"/>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FF87CAB8-DCAE-46A5-AADA-B3FAD11A54E0}" type="datetime1">
              <a:rPr lang="en-US" smtClean="0"/>
            </a:fld>
            <a:endParaRPr lang="en-US" dirty="0"/>
          </a:p>
        </p:txBody>
      </p:sp>
      <p:sp>
        <p:nvSpPr>
          <p:cNvPr id="5" name="Footer Placeholder 4"/>
          <p:cNvSpPr>
            <a:spLocks noGrp="1"/>
          </p:cNvSpPr>
          <p:nvPr>
            <p:ph type="ftr" sz="quarter" idx="11"/>
          </p:nvPr>
        </p:nvSpPr>
        <p:spPr/>
        <p:txBody>
          <a:bodyPr/>
          <a:p>
            <a:endParaRPr lang="en-US" dirty="0"/>
          </a:p>
        </p:txBody>
      </p:sp>
      <p:sp>
        <p:nvSpPr>
          <p:cNvPr id="6" name="Slide Number Placeholder 5"/>
          <p:cNvSpPr>
            <a:spLocks noGrp="1"/>
          </p:cNvSpPr>
          <p:nvPr>
            <p:ph type="sldNum" sz="quarter" idx="12"/>
          </p:nvPr>
        </p:nvSpPr>
        <p:spPr/>
        <p:txBody>
          <a:bodyPr/>
          <a:p>
            <a:fld id="{34B7E4EF-A1BD-40F4-AB7B-04F084DD991D}" type="slidenum">
              <a:rPr lang="en-US" smtClean="0"/>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6FA2B21-3FCD-4721-B95C-427943F61125}"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3"/>
          <a:srcRect t="1094" r="8122" b="13318"/>
          <a:stretch>
            <a:fillRect/>
          </a:stretch>
        </p:blipFill>
        <p:spPr>
          <a:xfrm>
            <a:off x="7730067" y="4438650"/>
            <a:ext cx="4453467" cy="2333625"/>
          </a:xfrm>
          <a:prstGeom prst="rect">
            <a:avLst/>
          </a:prstGeom>
          <a:noFill/>
          <a:ln w="9525">
            <a:noFill/>
          </a:ln>
        </p:spPr>
      </p:pic>
      <p:sp>
        <p:nvSpPr>
          <p:cNvPr id="1028" name="Rectangle 4"/>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F6FA2B21-3FCD-4721-B95C-427943F61125}" type="datetime1">
              <a:rPr lang="en-US" smtClean="0"/>
            </a:fld>
            <a:endParaRPr lang="en-US" dirty="0"/>
          </a:p>
        </p:txBody>
      </p:sp>
      <p:sp>
        <p:nvSpPr>
          <p:cNvPr id="1031" name="Rectangle 7"/>
          <p:cNvSpPr>
            <a:spLocks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2" name="Rectangle 8"/>
          <p:cNvSpPr>
            <a:spLocks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34B7E4EF-A1BD-40F4-AB7B-04F084DD991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hemeOverride" Target="../theme/themeOverride1.xml"/><Relationship Id="rId5" Type="http://schemas.microsoft.com/office/2007/relationships/hdphoto" Target="../media/image6.wdp"/><Relationship Id="rId4" Type="http://schemas.openxmlformats.org/officeDocument/2006/relationships/image" Target="../media/image5.png"/><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7.jpeg"/><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chart" Target="../charts/chart3.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7.jpeg"/><Relationship Id="rId3" Type="http://schemas.openxmlformats.org/officeDocument/2006/relationships/image" Target="../media/image4.png"/><Relationship Id="rId2" Type="http://schemas.openxmlformats.org/officeDocument/2006/relationships/chart" Target="../charts/chart5.xml"/><Relationship Id="rId1"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a:stretch>
            <a:fillRect/>
          </a:stretch>
        </p:blipFill>
        <p:spPr>
          <a:xfrm>
            <a:off x="20" y="-839"/>
            <a:ext cx="12191980" cy="6858000"/>
          </a:xfrm>
          <a:prstGeom prst="rect">
            <a:avLst/>
          </a:prstGeom>
        </p:spPr>
      </p:pic>
      <p:sp>
        <p:nvSpPr>
          <p:cNvPr id="89" name="Rectangle 88"/>
          <p:cNvSpPr>
            <a:spLocks noGrp="1" noRot="1" noChangeAspect="1" noMove="1" noResize="1" noEditPoints="1" noAdjustHandles="1" noChangeArrowheads="1" noChangeShapeType="1" noTextEdit="1"/>
          </p:cNvSpPr>
          <p:nvPr/>
        </p:nvSpPr>
        <p:spPr>
          <a:xfrm>
            <a:off x="5695067" y="1808532"/>
            <a:ext cx="5452527" cy="3240936"/>
          </a:xfrm>
          <a:prstGeom prst="rect">
            <a:avLst/>
          </a:prstGeom>
          <a:blipFill>
            <a:blip r:embed="rId3"/>
          </a:blipFill>
          <a:ln w="6350" cap="sq" cmpd="sng" algn="ctr">
            <a:noFill/>
            <a:prstDash val="solid"/>
            <a:miter lim="800000"/>
          </a:ln>
          <a:effectLst/>
        </p:spPr>
      </p:sp>
      <p:sp>
        <p:nvSpPr>
          <p:cNvPr id="91" name="Rectangle 90"/>
          <p:cNvSpPr>
            <a:spLocks noGrp="1" noRot="1" noChangeAspect="1" noMove="1" noResize="1" noEditPoints="1" noAdjustHandles="1" noChangeArrowheads="1" noChangeShapeType="1" noTextEdit="1"/>
          </p:cNvSpPr>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p:cNvSpPr>
            <a:spLocks noGrp="1"/>
          </p:cNvSpPr>
          <p:nvPr>
            <p:ph type="ctrTitle"/>
          </p:nvPr>
        </p:nvSpPr>
        <p:spPr>
          <a:xfrm>
            <a:off x="6033770" y="2355215"/>
            <a:ext cx="4775200" cy="2200910"/>
          </a:xfrm>
        </p:spPr>
        <p:style>
          <a:lnRef idx="0">
            <a:srgbClr val="FFFFFF"/>
          </a:lnRef>
          <a:fillRef idx="1">
            <a:prstClr val="black"/>
          </a:fillRef>
          <a:effectRef idx="0">
            <a:srgbClr val="FFFFFF"/>
          </a:effectRef>
          <a:fontRef idx="minor">
            <a:schemeClr val="lt1"/>
          </a:fontRef>
        </p:style>
        <p:txBody>
          <a:bodyPr>
            <a:normAutofit/>
          </a:bodyPr>
          <a:lstStyle/>
          <a:p>
            <a:br>
              <a:rPr lang="en-IN" sz="1600" b="1" kern="100" dirty="0">
                <a:solidFill>
                  <a:srgbClr val="00B0F0"/>
                </a:solidFill>
                <a:effectLst/>
                <a:latin typeface="Arial" panose="020B0604020202020204" pitchFamily="34" charset="0"/>
                <a:cs typeface="Arial" panose="020B0604020202020204" pitchFamily="34" charset="0"/>
              </a:rPr>
            </a:br>
            <a:r>
              <a:rPr lang="en-IN" sz="1800" b="1" kern="100" dirty="0">
                <a:solidFill>
                  <a:srgbClr val="00B0F0"/>
                </a:solidFill>
                <a:effectLst/>
                <a:latin typeface="Arial" panose="020B0604020202020204" pitchFamily="34" charset="0"/>
                <a:cs typeface="Arial" panose="020B0604020202020204" pitchFamily="34" charset="0"/>
              </a:rPr>
              <a:t>Case Study</a:t>
            </a:r>
            <a:br>
              <a:rPr lang="en-IN" sz="1600" b="1" kern="100" dirty="0">
                <a:solidFill>
                  <a:srgbClr val="00B0F0"/>
                </a:solidFill>
                <a:effectLst/>
                <a:latin typeface="Arial" panose="020B0604020202020204" pitchFamily="34" charset="0"/>
                <a:cs typeface="Arial" panose="020B0604020202020204" pitchFamily="34" charset="0"/>
              </a:rPr>
            </a:br>
            <a:r>
              <a:rPr lang="en-IN" sz="1600" b="1" kern="100" dirty="0">
                <a:solidFill>
                  <a:srgbClr val="00B0F0"/>
                </a:solidFill>
                <a:effectLst/>
                <a:latin typeface="Arial" panose="020B0604020202020204" pitchFamily="34" charset="0"/>
                <a:cs typeface="Arial" panose="020B0604020202020204" pitchFamily="34" charset="0"/>
              </a:rPr>
              <a:t>Pfizer’s Personalized Medicine Initiative</a:t>
            </a:r>
            <a:br>
              <a:rPr lang="en-IN" sz="1600" kern="100" dirty="0">
                <a:solidFill>
                  <a:srgbClr val="00B0F0"/>
                </a:solidFill>
                <a:effectLst/>
                <a:latin typeface="Arial" panose="020B0604020202020204" pitchFamily="34" charset="0"/>
                <a:cs typeface="Arial" panose="020B0604020202020204" pitchFamily="34" charset="0"/>
              </a:rPr>
            </a:br>
            <a:br>
              <a:rPr lang="en-IN" sz="1600" kern="100" dirty="0">
                <a:solidFill>
                  <a:srgbClr val="00B0F0"/>
                </a:solidFill>
                <a:effectLst/>
                <a:latin typeface="Arial" panose="020B0604020202020204" pitchFamily="34" charset="0"/>
                <a:cs typeface="Arial" panose="020B0604020202020204" pitchFamily="34" charset="0"/>
              </a:rPr>
            </a:br>
            <a:endParaRPr lang="en-US" sz="1600" dirty="0">
              <a:solidFill>
                <a:srgbClr val="00B0F0"/>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033770" y="3774440"/>
            <a:ext cx="4775200" cy="696595"/>
          </a:xfrm>
        </p:spPr>
        <p:txBody>
          <a:bodyPr>
            <a:normAutofit fontScale="60000"/>
          </a:bodyPr>
          <a:lstStyle/>
          <a:p>
            <a:pPr algn="ctr">
              <a:lnSpc>
                <a:spcPct val="107000"/>
              </a:lnSpc>
              <a:spcAft>
                <a:spcPts val="800"/>
              </a:spcAft>
            </a:pPr>
            <a:r>
              <a:rPr lang="en-US" sz="1800" b="1" u="sng" kern="100" dirty="0">
                <a:solidFill>
                  <a:srgbClr val="00B0F0"/>
                </a:solidFill>
                <a:effectLst/>
                <a:latin typeface="Calibri" panose="020F0502020204030204" pitchFamily="34" charset="0"/>
                <a:cs typeface="Times New Roman" panose="02020603050405020304" pitchFamily="18" charset="0"/>
              </a:rPr>
              <a:t>Presented BY</a:t>
            </a:r>
            <a:endParaRPr lang="en-US" sz="1800" kern="100" dirty="0">
              <a:solidFill>
                <a:srgbClr val="00B0F0"/>
              </a:solidFill>
              <a:effectLst/>
              <a:latin typeface="Calibri" panose="020F0502020204030204" pitchFamily="34" charset="0"/>
              <a:cs typeface="Times New Roman" panose="02020603050405020304" pitchFamily="18" charset="0"/>
            </a:endParaRPr>
          </a:p>
          <a:p>
            <a:pPr>
              <a:lnSpc>
                <a:spcPct val="107000"/>
              </a:lnSpc>
              <a:spcAft>
                <a:spcPts val="800"/>
              </a:spcAft>
            </a:pPr>
            <a:r>
              <a:rPr lang="en-US" sz="1800" kern="100" dirty="0">
                <a:solidFill>
                  <a:srgbClr val="00B0F0"/>
                </a:solidFill>
                <a:effectLst/>
                <a:latin typeface="Calibri" panose="020F0502020204030204" pitchFamily="34" charset="0"/>
                <a:cs typeface="Times New Roman" panose="02020603050405020304" pitchFamily="18" charset="0"/>
              </a:rPr>
              <a:t>JAYA SUHANE| JOB AAJ |16/02/2025</a:t>
            </a:r>
            <a:endParaRPr lang="en-US" sz="1800" kern="100" dirty="0">
              <a:solidFill>
                <a:srgbClr val="00B0F0"/>
              </a:solidFill>
              <a:effectLst/>
              <a:latin typeface="Calibri" panose="020F0502020204030204" pitchFamily="34" charset="0"/>
              <a:cs typeface="Times New Roman" panose="02020603050405020304" pitchFamily="18" charset="0"/>
            </a:endParaRPr>
          </a:p>
          <a:p>
            <a:pPr>
              <a:spcAft>
                <a:spcPts val="600"/>
              </a:spcAft>
            </a:pPr>
            <a:endParaRPr lang="en-US" dirty="0">
              <a:solidFill>
                <a:schemeClr val="tx1"/>
              </a:solidFill>
            </a:endParaRPr>
          </a:p>
        </p:txBody>
      </p:sp>
      <p:pic>
        <p:nvPicPr>
          <p:cNvPr id="8" name="Picture 7"/>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artisticGlowEdges trans="15000"/>
                    </a14:imgEffect>
                  </a14:imgLayer>
                </a14:imgProps>
              </a:ext>
            </a:extLst>
          </a:blip>
          <a:stretch>
            <a:fillRect/>
          </a:stretch>
        </p:blipFill>
        <p:spPr>
          <a:xfrm>
            <a:off x="4248254" y="146943"/>
            <a:ext cx="3225512" cy="1081493"/>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p:sp>
        <p:nvSpPr>
          <p:cNvPr id="3" name="Content Placeholder 2"/>
          <p:cNvSpPr>
            <a:spLocks noGrp="1"/>
          </p:cNvSpPr>
          <p:nvPr>
            <p:ph idx="1"/>
          </p:nvPr>
        </p:nvSpPr>
        <p:spPr>
          <a:xfrm>
            <a:off x="1270" y="1987550"/>
            <a:ext cx="12191365" cy="4773295"/>
          </a:xfrm>
          <a:blipFill rotWithShape="1">
            <a:blip r:embed="rId1"/>
            <a:tile tx="0" ty="0" sx="100000" sy="100000" flip="none" algn="tl"/>
          </a:blipFill>
          <a:ln>
            <a:solidFill>
              <a:srgbClr val="002060"/>
            </a:solidFill>
          </a:ln>
        </p:spPr>
        <p:style>
          <a:lnRef idx="0">
            <a:srgbClr val="FFFFFF"/>
          </a:lnRef>
          <a:fillRef idx="2">
            <a:schemeClr val="accent2"/>
          </a:fillRef>
          <a:effectRef idx="0">
            <a:srgbClr val="FFFFFF"/>
          </a:effectRef>
          <a:fontRef idx="minor">
            <a:schemeClr val="lt1"/>
          </a:fontRef>
        </p:style>
        <p:txBody>
          <a:bodyPr/>
          <a:p>
            <a:r>
              <a:rPr lang="en-US" altLang="en-IN" sz="1600" dirty="0">
                <a:solidFill>
                  <a:schemeClr val="accent2"/>
                </a:solidFill>
                <a:sym typeface="+mn-ea"/>
              </a:rPr>
              <a:t>Introduction</a:t>
            </a:r>
            <a:endParaRPr lang="en-US" altLang="en-IN" sz="1600" dirty="0">
              <a:solidFill>
                <a:schemeClr val="accent2"/>
              </a:solidFill>
              <a:highlight>
                <a:srgbClr val="0000FF"/>
              </a:highlight>
              <a:sym typeface="+mn-ea"/>
            </a:endParaRPr>
          </a:p>
          <a:p>
            <a:r>
              <a:rPr lang="en-US" altLang="en-IN" sz="1600" dirty="0">
                <a:solidFill>
                  <a:schemeClr val="accent2"/>
                </a:solidFill>
                <a:sym typeface="+mn-ea"/>
              </a:rPr>
              <a:t>Problem</a:t>
            </a:r>
            <a:endParaRPr lang="en-US" altLang="en-IN" sz="1600" dirty="0">
              <a:solidFill>
                <a:schemeClr val="accent2"/>
              </a:solidFill>
              <a:sym typeface="+mn-ea"/>
            </a:endParaRPr>
          </a:p>
          <a:p>
            <a:pPr algn="l"/>
            <a:r>
              <a:rPr lang="en-US" altLang="en-IN" sz="1600" dirty="0">
                <a:solidFill>
                  <a:schemeClr val="accent2"/>
                </a:solidFill>
                <a:sym typeface="+mn-ea"/>
              </a:rPr>
              <a:t>Background</a:t>
            </a:r>
            <a:endParaRPr lang="en-US" altLang="en-IN" sz="1600" dirty="0">
              <a:solidFill>
                <a:schemeClr val="accent2"/>
              </a:solidFill>
              <a:sym typeface="+mn-ea"/>
            </a:endParaRPr>
          </a:p>
          <a:p>
            <a:r>
              <a:rPr lang="en-US" altLang="en-IN" sz="1600" dirty="0">
                <a:solidFill>
                  <a:schemeClr val="accent2"/>
                </a:solidFill>
                <a:sym typeface="+mn-ea"/>
              </a:rPr>
              <a:t>Solution</a:t>
            </a:r>
            <a:endParaRPr lang="en-US" altLang="en-IN" sz="1600" dirty="0">
              <a:solidFill>
                <a:schemeClr val="accent2"/>
              </a:solidFill>
              <a:sym typeface="+mn-ea"/>
            </a:endParaRPr>
          </a:p>
          <a:p>
            <a:r>
              <a:rPr lang="en-US" altLang="en-IN" sz="1600" dirty="0">
                <a:solidFill>
                  <a:schemeClr val="accent2"/>
                </a:solidFill>
                <a:sym typeface="+mn-ea"/>
              </a:rPr>
              <a:t>Methodology and Project Scope</a:t>
            </a:r>
            <a:endParaRPr lang="en-US" altLang="en-IN" sz="1600" dirty="0">
              <a:solidFill>
                <a:schemeClr val="accent2"/>
              </a:solidFill>
              <a:sym typeface="+mn-ea"/>
            </a:endParaRPr>
          </a:p>
          <a:p>
            <a:r>
              <a:rPr lang="en-US" altLang="en-IN" sz="1600" dirty="0">
                <a:solidFill>
                  <a:schemeClr val="accent2"/>
                </a:solidFill>
                <a:sym typeface="+mn-ea"/>
              </a:rPr>
              <a:t>Goals and KPI’s</a:t>
            </a:r>
            <a:endParaRPr lang="en-US" altLang="en-IN" sz="1600" dirty="0">
              <a:solidFill>
                <a:schemeClr val="accent2"/>
              </a:solidFill>
              <a:sym typeface="+mn-ea"/>
            </a:endParaRPr>
          </a:p>
          <a:p>
            <a:r>
              <a:rPr lang="en-US" altLang="en-IN" sz="1600" dirty="0">
                <a:solidFill>
                  <a:schemeClr val="accent2"/>
                </a:solidFill>
                <a:sym typeface="+mn-ea"/>
              </a:rPr>
              <a:t>Technical Process </a:t>
            </a:r>
            <a:endParaRPr lang="en-US" altLang="en-IN" sz="1600" dirty="0">
              <a:solidFill>
                <a:schemeClr val="accent2"/>
              </a:solidFill>
              <a:sym typeface="+mn-ea"/>
            </a:endParaRPr>
          </a:p>
          <a:p>
            <a:r>
              <a:rPr lang="en-US" altLang="en-IN" sz="1600" dirty="0">
                <a:solidFill>
                  <a:schemeClr val="accent2"/>
                </a:solidFill>
                <a:sym typeface="+mn-ea"/>
              </a:rPr>
              <a:t>Conclusion</a:t>
            </a:r>
            <a:endParaRPr lang="en-US" altLang="en-IN" sz="1600" dirty="0">
              <a:solidFill>
                <a:schemeClr val="accent2"/>
              </a:solidFill>
              <a:sym typeface="+mn-ea"/>
            </a:endParaRPr>
          </a:p>
          <a:p>
            <a:r>
              <a:rPr lang="en-US" altLang="en-IN" sz="1600" dirty="0">
                <a:solidFill>
                  <a:schemeClr val="accent2"/>
                </a:solidFill>
                <a:sym typeface="+mn-ea"/>
              </a:rPr>
              <a:t>Project Owner</a:t>
            </a:r>
            <a:endParaRPr lang="en-US" altLang="en-IN" sz="1600" dirty="0">
              <a:solidFill>
                <a:schemeClr val="accent2"/>
              </a:solidFill>
              <a:sym typeface="+mn-ea"/>
            </a:endParaRPr>
          </a:p>
          <a:p>
            <a:pPr marL="0" indent="0">
              <a:buNone/>
            </a:pPr>
            <a:endParaRPr lang="en-US" altLang="en-IN" dirty="0">
              <a:solidFill>
                <a:schemeClr val="bg1"/>
              </a:solidFill>
            </a:endParaRPr>
          </a:p>
          <a:p>
            <a:endParaRPr lang="en-US"/>
          </a:p>
        </p:txBody>
      </p:sp>
      <p:sp>
        <p:nvSpPr>
          <p:cNvPr id="16" name="Text Box 15"/>
          <p:cNvSpPr txBox="1"/>
          <p:nvPr/>
        </p:nvSpPr>
        <p:spPr>
          <a:xfrm>
            <a:off x="635" y="1218565"/>
            <a:ext cx="12192635" cy="768985"/>
          </a:xfrm>
          <a:prstGeom prst="rect">
            <a:avLst/>
          </a:prstGeom>
          <a:blipFill>
            <a:blip r:embed="rId1"/>
          </a:blipFill>
        </p:spPr>
        <p:txBody>
          <a:bodyPr wrap="square" rtlCol="0">
            <a:noAutofit/>
          </a:bodyPr>
          <a:p>
            <a:pPr algn="ctr"/>
            <a:r>
              <a:rPr lang="en-US" sz="2400" b="1">
                <a:gradFill>
                  <a:gsLst>
                    <a:gs pos="0">
                      <a:srgbClr val="007BD3"/>
                    </a:gs>
                    <a:gs pos="100000">
                      <a:srgbClr val="034373"/>
                    </a:gs>
                  </a:gsLst>
                  <a:lin scaled="0"/>
                </a:gradFill>
              </a:rPr>
              <a:t>Content</a:t>
            </a:r>
            <a:endParaRPr lang="en-US" sz="2400" b="1">
              <a:gradFill>
                <a:gsLst>
                  <a:gs pos="0">
                    <a:srgbClr val="007BD3"/>
                  </a:gs>
                  <a:gs pos="100000">
                    <a:srgbClr val="034373"/>
                  </a:gs>
                </a:gsLst>
                <a:lin scaled="0"/>
              </a:gradFill>
            </a:endParaRPr>
          </a:p>
        </p:txBody>
      </p:sp>
      <p:pic>
        <p:nvPicPr>
          <p:cNvPr id="18" name="Picture 17" descr="LOGo2"/>
          <p:cNvPicPr>
            <a:picLocks noChangeAspect="1"/>
          </p:cNvPicPr>
          <p:nvPr/>
        </p:nvPicPr>
        <p:blipFill>
          <a:blip r:embed="rId2"/>
          <a:stretch>
            <a:fillRect/>
          </a:stretch>
        </p:blipFill>
        <p:spPr>
          <a:xfrm>
            <a:off x="635" y="497205"/>
            <a:ext cx="2571750" cy="721360"/>
          </a:xfrm>
          <a:prstGeom prst="rect">
            <a:avLst/>
          </a:prstGeom>
          <a:pattFill prst="pct5">
            <a:fgClr>
              <a:schemeClr val="accent6">
                <a:lumMod val="60000"/>
                <a:lumOff val="40000"/>
              </a:schemeClr>
            </a:fgClr>
            <a:bgClr>
              <a:schemeClr val="accent3">
                <a:lumMod val="95000"/>
              </a:schemeClr>
            </a:bgClr>
          </a:patt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p:sp>
        <p:nvSpPr>
          <p:cNvPr id="2" name="Title 1"/>
          <p:cNvSpPr>
            <a:spLocks noGrp="1"/>
          </p:cNvSpPr>
          <p:nvPr>
            <p:ph type="title"/>
          </p:nvPr>
        </p:nvSpPr>
        <p:spPr>
          <a:xfrm>
            <a:off x="669290" y="1119505"/>
            <a:ext cx="11522075" cy="369570"/>
          </a:xfrm>
          <a:blipFill rotWithShape="1">
            <a:blip r:embed="rId1"/>
            <a:tile tx="0" ty="0" sx="100000" sy="100000" flip="none" algn="tl"/>
          </a:blipFill>
        </p:spPr>
        <p:txBody>
          <a:bodyPr/>
          <a:p>
            <a:pPr algn="l"/>
            <a:r>
              <a:rPr lang="en-US" sz="2000" b="1" u="sng">
                <a:solidFill>
                  <a:schemeClr val="bg1"/>
                </a:solidFill>
              </a:rPr>
              <a:t>Introduction</a:t>
            </a:r>
            <a:endParaRPr lang="en-US" sz="2000" b="1" u="sng">
              <a:solidFill>
                <a:schemeClr val="bg1"/>
              </a:solidFill>
            </a:endParaRPr>
          </a:p>
        </p:txBody>
      </p:sp>
      <p:sp>
        <p:nvSpPr>
          <p:cNvPr id="3" name="Content Placeholder 2"/>
          <p:cNvSpPr>
            <a:spLocks noGrp="1"/>
          </p:cNvSpPr>
          <p:nvPr>
            <p:ph idx="1"/>
          </p:nvPr>
        </p:nvSpPr>
        <p:spPr>
          <a:xfrm>
            <a:off x="702310" y="1600200"/>
            <a:ext cx="11489690" cy="1431925"/>
          </a:xfrm>
          <a:blipFill rotWithShape="1">
            <a:blip r:embed="rId1"/>
            <a:tile tx="0" ty="0" sx="100000" sy="100000" flip="none" algn="tl"/>
          </a:blipFill>
        </p:spPr>
        <p:txBody>
          <a:bodyPr/>
          <a:p>
            <a:pPr marL="0" indent="0">
              <a:buNone/>
            </a:pPr>
            <a:r>
              <a:rPr lang="en-US" altLang="en-US" sz="1600">
                <a:solidFill>
                  <a:schemeClr val="bg1"/>
                </a:solidFill>
              </a:rPr>
              <a:t>Pfizer is one of the world’s leading pharmaceutical companies, founded more than 170 years ago. Pfizer was founded in New York, USA, by Charles Pfizer and Charles Erhart. Today, it’s touching the lives of millions of people as one of the world’s leading bio-pharmaceutical companies, present in over 125 countries.We specialise with expert therapy in 6 product-portfolios of- Vaccines, Oncology, Internal Medicine, Rare Diseases, Inflammation and Immunology, and Hospitals.</a:t>
            </a:r>
            <a:endParaRPr lang="en-US" altLang="en-US" sz="1600">
              <a:solidFill>
                <a:schemeClr val="bg1"/>
              </a:solidFill>
            </a:endParaRPr>
          </a:p>
          <a:p>
            <a:pPr marL="0" indent="0">
              <a:buNone/>
            </a:pPr>
            <a:r>
              <a:rPr lang="en-US" altLang="en-US" sz="2000" b="1" u="sng">
                <a:solidFill>
                  <a:schemeClr val="bg1"/>
                </a:solidFill>
              </a:rPr>
              <a:t>Background</a:t>
            </a:r>
            <a:endParaRPr lang="en-US" altLang="en-US" sz="2000" b="1" u="sng">
              <a:solidFill>
                <a:schemeClr val="bg1"/>
              </a:solidFill>
            </a:endParaRPr>
          </a:p>
          <a:p>
            <a:pPr marL="0" indent="0">
              <a:buNone/>
            </a:pPr>
            <a:endParaRPr lang="en-US" altLang="en-US" sz="2000" b="1" u="sng">
              <a:solidFill>
                <a:schemeClr val="bg1"/>
              </a:solidFill>
            </a:endParaRPr>
          </a:p>
          <a:p>
            <a:pPr marL="0" indent="0">
              <a:buNone/>
            </a:pPr>
            <a:endParaRPr lang="en-US" altLang="en-US" sz="2000" b="1" u="sng">
              <a:solidFill>
                <a:schemeClr val="bg1"/>
              </a:solidFill>
            </a:endParaRPr>
          </a:p>
        </p:txBody>
      </p:sp>
      <p:sp>
        <p:nvSpPr>
          <p:cNvPr id="4" name="Text Box 3"/>
          <p:cNvSpPr txBox="1"/>
          <p:nvPr/>
        </p:nvSpPr>
        <p:spPr>
          <a:xfrm>
            <a:off x="668655" y="3274695"/>
            <a:ext cx="11489690" cy="3517265"/>
          </a:xfrm>
          <a:prstGeom prst="rect">
            <a:avLst/>
          </a:prstGeom>
          <a:blipFill rotWithShape="1">
            <a:blip r:embed="rId1"/>
            <a:tile tx="0" ty="0" sx="100000" sy="100000" flip="none" algn="tl"/>
          </a:blipFill>
        </p:spPr>
        <p:txBody>
          <a:bodyPr wrap="square" rtlCol="0">
            <a:noAutofit/>
          </a:bodyPr>
          <a:p>
            <a:r>
              <a:rPr lang="en-US" altLang="en-US" sz="1600">
                <a:solidFill>
                  <a:schemeClr val="bg1"/>
                </a:solidFill>
              </a:rPr>
              <a:t>We are living our best lives in the 21st century and there is one thing to thank for that: innovation. Advances in science and technology have made this the greatest century of human progress in history. Innovation is at the core of everything we do at Pfizer, globally and in India. While we continue to innovate, we also want to support others who want to do the same.</a:t>
            </a:r>
            <a:endParaRPr lang="en-US" altLang="en-US" sz="1600">
              <a:solidFill>
                <a:schemeClr val="bg1"/>
              </a:solidFill>
            </a:endParaRPr>
          </a:p>
          <a:p>
            <a:endParaRPr lang="en-US" altLang="en-US" sz="2000" b="1" u="sng">
              <a:solidFill>
                <a:schemeClr val="bg1"/>
              </a:solidFill>
            </a:endParaRPr>
          </a:p>
          <a:p>
            <a:r>
              <a:rPr lang="en-US" altLang="en-US" sz="2000" b="1" u="sng">
                <a:solidFill>
                  <a:schemeClr val="bg1"/>
                </a:solidFill>
              </a:rPr>
              <a:t>Problem</a:t>
            </a:r>
            <a:endParaRPr lang="en-US" altLang="en-US" sz="2000" b="1" u="sng">
              <a:solidFill>
                <a:schemeClr val="bg1"/>
              </a:solidFill>
            </a:endParaRPr>
          </a:p>
          <a:p>
            <a:r>
              <a:rPr lang="en-US" altLang="en-US" sz="1600">
                <a:solidFill>
                  <a:schemeClr val="bg1"/>
                </a:solidFill>
              </a:rPr>
              <a:t>Pfizer aims to analyse drug efficacy and patient response variability using genomics and clinical trial data. The objective is to identify patient demographics and genetic factors influencing drug effectiveness, detect patterns in side effects across different groups, and determine the most effective treatment plans based on progression-free survival rates. Insights from this analysis will enhance personalized treatment, optimize clinical trials, and minimize adverse effects.</a:t>
            </a:r>
            <a:endParaRPr lang="en-US" altLang="en-US" sz="1600">
              <a:solidFill>
                <a:schemeClr val="bg1"/>
              </a:solidFill>
            </a:endParaRPr>
          </a:p>
          <a:p>
            <a:endParaRPr lang="en-US" altLang="en-US" sz="1600" b="1" u="sng">
              <a:solidFill>
                <a:schemeClr val="bg1"/>
              </a:solidFill>
            </a:endParaRPr>
          </a:p>
          <a:p>
            <a:endParaRPr lang="en-US" altLang="en-US" sz="1600" b="1" u="sng">
              <a:solidFill>
                <a:schemeClr val="bg1"/>
              </a:solidFill>
            </a:endParaRPr>
          </a:p>
        </p:txBody>
      </p:sp>
      <p:sp>
        <p:nvSpPr>
          <p:cNvPr id="8" name="Text Box 7"/>
          <p:cNvSpPr txBox="1"/>
          <p:nvPr/>
        </p:nvSpPr>
        <p:spPr>
          <a:xfrm>
            <a:off x="668655" y="-635"/>
            <a:ext cx="11522710" cy="1049655"/>
          </a:xfrm>
          <a:prstGeom prst="rect">
            <a:avLst/>
          </a:prstGeom>
          <a:blipFill>
            <a:blip r:embed="rId1"/>
          </a:blipFill>
        </p:spPr>
        <p:txBody>
          <a:bodyPr wrap="square" rtlCol="0">
            <a:noAutofit/>
          </a:bodyPr>
          <a:p>
            <a:pPr algn="ctr"/>
            <a:endParaRPr lang="en-US" sz="2400">
              <a:ln w="22225">
                <a:solidFill>
                  <a:schemeClr val="accent2"/>
                </a:solidFill>
                <a:prstDash val="solid"/>
              </a:ln>
              <a:solidFill>
                <a:schemeClr val="accent2">
                  <a:lumMod val="40000"/>
                  <a:lumOff val="60000"/>
                </a:schemeClr>
              </a:solidFill>
              <a:effectLst/>
            </a:endParaRPr>
          </a:p>
          <a:p>
            <a:pPr algn="ctr"/>
            <a:r>
              <a:rPr lang="en-US" sz="2400">
                <a:ln w="22225">
                  <a:solidFill>
                    <a:schemeClr val="accent2"/>
                  </a:solidFill>
                  <a:prstDash val="solid"/>
                </a:ln>
                <a:solidFill>
                  <a:schemeClr val="accent2">
                    <a:lumMod val="40000"/>
                    <a:lumOff val="60000"/>
                  </a:schemeClr>
                </a:solidFill>
                <a:effectLst/>
              </a:rPr>
              <a:t>Introduction: Background And Problem</a:t>
            </a:r>
            <a:endParaRPr lang="en-US" sz="2400">
              <a:ln w="22225">
                <a:solidFill>
                  <a:schemeClr val="accent2"/>
                </a:solidFill>
                <a:prstDash val="solid"/>
              </a:ln>
              <a:solidFill>
                <a:schemeClr val="accent2">
                  <a:lumMod val="40000"/>
                  <a:lumOff val="60000"/>
                </a:schemeClr>
              </a:solidFill>
              <a:effectLst/>
            </a:endParaRPr>
          </a:p>
        </p:txBody>
      </p:sp>
      <p:pic>
        <p:nvPicPr>
          <p:cNvPr id="9" name="Picture 8" descr="LOGo2"/>
          <p:cNvPicPr>
            <a:picLocks noChangeAspect="1"/>
          </p:cNvPicPr>
          <p:nvPr/>
        </p:nvPicPr>
        <p:blipFill>
          <a:blip r:embed="rId2"/>
          <a:stretch>
            <a:fillRect/>
          </a:stretch>
        </p:blipFill>
        <p:spPr>
          <a:xfrm>
            <a:off x="702945" y="168910"/>
            <a:ext cx="2571750" cy="721360"/>
          </a:xfrm>
          <a:prstGeom prst="rect">
            <a:avLst/>
          </a:prstGeom>
          <a:pattFill prst="pct5">
            <a:fgClr>
              <a:schemeClr val="accent6">
                <a:lumMod val="60000"/>
                <a:lumOff val="40000"/>
              </a:schemeClr>
            </a:fgClr>
            <a:bgClr>
              <a:schemeClr val="accent3">
                <a:lumMod val="95000"/>
              </a:schemeClr>
            </a:bgClr>
          </a:patt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274955"/>
            <a:ext cx="11582400" cy="1143000"/>
          </a:xfrm>
          <a:blipFill rotWithShape="1">
            <a:blip r:embed="rId1"/>
            <a:tile tx="0" ty="0" sx="100000" sy="100000" flip="none" algn="tl"/>
          </a:blipFill>
        </p:spPr>
        <p:txBody>
          <a:bodyPr/>
          <a:p>
            <a:pPr algn="l"/>
            <a:br>
              <a:rPr lang="en-US" sz="2000" b="1" u="sng">
                <a:solidFill>
                  <a:schemeClr val="bg1"/>
                </a:solidFill>
                <a:sym typeface="+mn-ea"/>
              </a:rPr>
            </a:br>
            <a:br>
              <a:rPr lang="en-US" sz="2000" b="1" u="sng">
                <a:solidFill>
                  <a:schemeClr val="bg1"/>
                </a:solidFill>
                <a:sym typeface="+mn-ea"/>
              </a:rPr>
            </a:br>
            <a:endParaRPr lang="en-US" sz="2000" b="1" u="sng">
              <a:solidFill>
                <a:schemeClr val="bg1"/>
              </a:solidFill>
            </a:endParaRPr>
          </a:p>
        </p:txBody>
      </p:sp>
      <p:sp>
        <p:nvSpPr>
          <p:cNvPr id="5" name="Content Placeholder 4"/>
          <p:cNvSpPr>
            <a:spLocks noGrp="1"/>
          </p:cNvSpPr>
          <p:nvPr>
            <p:ph idx="1"/>
          </p:nvPr>
        </p:nvSpPr>
        <p:spPr>
          <a:xfrm>
            <a:off x="553720" y="1656080"/>
            <a:ext cx="11638915" cy="5144135"/>
          </a:xfrm>
          <a:blipFill rotWithShape="1">
            <a:blip r:embed="rId1"/>
            <a:tile tx="0" ty="0" sx="100000" sy="100000" flip="none" algn="tl"/>
          </a:blipFill>
        </p:spPr>
        <p:txBody>
          <a:bodyPr/>
          <a:p>
            <a:pPr marL="0" indent="0">
              <a:buNone/>
            </a:pPr>
            <a:r>
              <a:rPr lang="en-US" sz="2000" b="1" u="sng">
                <a:solidFill>
                  <a:schemeClr val="bg1"/>
                </a:solidFill>
                <a:sym typeface="+mn-ea"/>
              </a:rPr>
              <a:t>Solution</a:t>
            </a:r>
            <a:endParaRPr lang="en-US" altLang="en-US" sz="1600">
              <a:solidFill>
                <a:schemeClr val="bg1"/>
              </a:solidFill>
            </a:endParaRPr>
          </a:p>
          <a:p>
            <a:pPr marL="0" indent="0">
              <a:buNone/>
            </a:pPr>
            <a:r>
              <a:rPr lang="en-US" altLang="en-US" sz="1600">
                <a:solidFill>
                  <a:schemeClr val="bg1"/>
                </a:solidFill>
              </a:rPr>
              <a:t>To effectively analyse drug efficacy and patient response variability, the solution should involve a structured approach combining data preprocessing, statistical analysis, and visualization.</a:t>
            </a:r>
            <a:endParaRPr lang="en-US" altLang="en-US" sz="1600">
              <a:solidFill>
                <a:schemeClr val="bg1"/>
              </a:solidFill>
            </a:endParaRPr>
          </a:p>
          <a:p>
            <a:r>
              <a:rPr lang="en-US" altLang="en-US" sz="1600">
                <a:solidFill>
                  <a:schemeClr val="bg1"/>
                </a:solidFill>
              </a:rPr>
              <a:t>1. Data Preprocessing &amp; Cleaning</a:t>
            </a:r>
            <a:endParaRPr lang="en-US" altLang="en-US" sz="1600">
              <a:solidFill>
                <a:schemeClr val="bg1"/>
              </a:solidFill>
            </a:endParaRPr>
          </a:p>
          <a:p>
            <a:r>
              <a:rPr lang="en-US" altLang="en-US" sz="1600">
                <a:solidFill>
                  <a:schemeClr val="bg1"/>
                </a:solidFill>
              </a:rPr>
              <a:t>2. Exploratory Data Analysis (EDA)</a:t>
            </a:r>
            <a:endParaRPr lang="en-US" altLang="en-US" sz="1600">
              <a:solidFill>
                <a:schemeClr val="bg1"/>
              </a:solidFill>
            </a:endParaRPr>
          </a:p>
          <a:p>
            <a:r>
              <a:rPr lang="en-US" altLang="en-US" sz="1600">
                <a:solidFill>
                  <a:schemeClr val="bg1"/>
                </a:solidFill>
              </a:rPr>
              <a:t>3. Data Visualization &amp; Reporting</a:t>
            </a:r>
            <a:endParaRPr lang="en-US" altLang="en-US" sz="1600">
              <a:solidFill>
                <a:schemeClr val="bg1"/>
              </a:solidFill>
            </a:endParaRPr>
          </a:p>
          <a:p>
            <a:endParaRPr lang="en-US" altLang="en-IN" sz="1600" dirty="0">
              <a:solidFill>
                <a:schemeClr val="accent2"/>
              </a:solidFill>
              <a:sym typeface="+mn-ea"/>
            </a:endParaRPr>
          </a:p>
          <a:p>
            <a:pPr marL="0" indent="0">
              <a:buNone/>
            </a:pPr>
            <a:r>
              <a:rPr lang="en-US" altLang="en-IN" sz="2000" b="1" u="sng" dirty="0">
                <a:solidFill>
                  <a:schemeClr val="bg1"/>
                </a:solidFill>
                <a:sym typeface="+mn-ea"/>
              </a:rPr>
              <a:t>Methodology and Project Scope</a:t>
            </a:r>
            <a:endParaRPr lang="en-US" altLang="en-IN" sz="2000" b="1" u="sng" dirty="0">
              <a:solidFill>
                <a:schemeClr val="bg1"/>
              </a:solidFill>
              <a:sym typeface="+mn-ea"/>
            </a:endParaRPr>
          </a:p>
          <a:p>
            <a:pPr marL="0" indent="0">
              <a:buNone/>
            </a:pPr>
            <a:r>
              <a:rPr lang="en-US" altLang="en-US" sz="1600" dirty="0">
                <a:solidFill>
                  <a:schemeClr val="bg1"/>
                </a:solidFill>
                <a:sym typeface="+mn-ea"/>
              </a:rPr>
              <a:t>To analyse drug efficacy and patient response variability, the project will follow a structured approach:</a:t>
            </a:r>
            <a:endParaRPr lang="en-US" altLang="en-US" sz="1600" dirty="0">
              <a:solidFill>
                <a:schemeClr val="bg1"/>
              </a:solidFill>
              <a:sym typeface="+mn-ea"/>
            </a:endParaRPr>
          </a:p>
          <a:p>
            <a:pPr marL="0" indent="0">
              <a:buNone/>
            </a:pPr>
            <a:r>
              <a:rPr lang="en-US" altLang="en-US" sz="1600" dirty="0">
                <a:solidFill>
                  <a:schemeClr val="bg1"/>
                </a:solidFill>
                <a:sym typeface="+mn-ea"/>
              </a:rPr>
              <a:t>1. Data Collection &amp; Preprocessing</a:t>
            </a:r>
            <a:endParaRPr lang="en-US" altLang="en-US" sz="1600" dirty="0">
              <a:solidFill>
                <a:schemeClr val="bg1"/>
              </a:solidFill>
              <a:sym typeface="+mn-ea"/>
            </a:endParaRPr>
          </a:p>
          <a:p>
            <a:pPr marL="0" indent="0">
              <a:buNone/>
            </a:pPr>
            <a:r>
              <a:rPr lang="en-US" altLang="en-US" sz="1600" dirty="0">
                <a:solidFill>
                  <a:schemeClr val="bg1"/>
                </a:solidFill>
                <a:sym typeface="+mn-ea"/>
              </a:rPr>
              <a:t>2. Exploratory Data Analysis (EDA)</a:t>
            </a:r>
            <a:endParaRPr lang="en-US" altLang="en-US" sz="1600" dirty="0">
              <a:solidFill>
                <a:schemeClr val="bg1"/>
              </a:solidFill>
              <a:sym typeface="+mn-ea"/>
            </a:endParaRPr>
          </a:p>
          <a:p>
            <a:pPr marL="0" indent="0">
              <a:buNone/>
            </a:pPr>
            <a:r>
              <a:rPr lang="en-US" altLang="en-US" sz="1600" dirty="0">
                <a:solidFill>
                  <a:schemeClr val="bg1"/>
                </a:solidFill>
                <a:sym typeface="+mn-ea"/>
              </a:rPr>
              <a:t>3. Side Effects Pattern Analysis</a:t>
            </a:r>
            <a:endParaRPr lang="en-US" altLang="en-US" sz="1600" dirty="0">
              <a:solidFill>
                <a:schemeClr val="bg1"/>
              </a:solidFill>
              <a:sym typeface="+mn-ea"/>
            </a:endParaRPr>
          </a:p>
          <a:p>
            <a:pPr marL="0" indent="0">
              <a:buNone/>
            </a:pPr>
            <a:r>
              <a:rPr lang="en-US" altLang="en-US" sz="1600" dirty="0">
                <a:solidFill>
                  <a:schemeClr val="bg1"/>
                </a:solidFill>
                <a:sym typeface="+mn-ea"/>
              </a:rPr>
              <a:t>4. Data Visualization &amp; Reporting</a:t>
            </a:r>
            <a:endParaRPr lang="en-US" altLang="en-US" sz="1600" dirty="0">
              <a:solidFill>
                <a:schemeClr val="bg1"/>
              </a:solidFill>
              <a:sym typeface="+mn-ea"/>
            </a:endParaRPr>
          </a:p>
          <a:p>
            <a:pPr marL="0" indent="0">
              <a:buNone/>
            </a:pPr>
            <a:r>
              <a:rPr lang="en-US" altLang="en-US" sz="1600" dirty="0">
                <a:solidFill>
                  <a:schemeClr val="bg1"/>
                </a:solidFill>
                <a:sym typeface="+mn-ea"/>
              </a:rPr>
              <a:t>5. Insights &amp; Recommendations Report</a:t>
            </a:r>
            <a:endParaRPr lang="en-US" altLang="en-US" sz="1600" dirty="0">
              <a:solidFill>
                <a:schemeClr val="bg1"/>
              </a:solidFill>
              <a:sym typeface="+mn-ea"/>
            </a:endParaRPr>
          </a:p>
        </p:txBody>
      </p:sp>
      <p:pic>
        <p:nvPicPr>
          <p:cNvPr id="10" name="Picture 9" descr="LOGo2"/>
          <p:cNvPicPr>
            <a:picLocks noChangeAspect="1"/>
          </p:cNvPicPr>
          <p:nvPr/>
        </p:nvPicPr>
        <p:blipFill>
          <a:blip r:embed="rId2"/>
          <a:stretch>
            <a:fillRect/>
          </a:stretch>
        </p:blipFill>
        <p:spPr>
          <a:xfrm>
            <a:off x="780415" y="485775"/>
            <a:ext cx="2571750" cy="721360"/>
          </a:xfrm>
          <a:prstGeom prst="rect">
            <a:avLst/>
          </a:prstGeom>
          <a:pattFill prst="pct5">
            <a:fgClr>
              <a:schemeClr val="accent6">
                <a:lumMod val="60000"/>
                <a:lumOff val="40000"/>
              </a:schemeClr>
            </a:fgClr>
            <a:bgClr>
              <a:schemeClr val="accent3">
                <a:lumMod val="95000"/>
              </a:schemeClr>
            </a:bgClr>
          </a:pattFill>
        </p:spPr>
      </p:pic>
      <p:sp>
        <p:nvSpPr>
          <p:cNvPr id="6" name="Text Box 5"/>
          <p:cNvSpPr txBox="1"/>
          <p:nvPr/>
        </p:nvSpPr>
        <p:spPr>
          <a:xfrm>
            <a:off x="4508500" y="568325"/>
            <a:ext cx="4202430" cy="460375"/>
          </a:xfrm>
          <a:prstGeom prst="rect">
            <a:avLst/>
          </a:prstGeom>
          <a:noFill/>
        </p:spPr>
        <p:txBody>
          <a:bodyPr wrap="square" rtlCol="0">
            <a:spAutoFit/>
            <a:scene3d>
              <a:camera prst="orthographicFront"/>
              <a:lightRig rig="threePt" dir="t"/>
            </a:scene3d>
          </a:bodyPr>
          <a:p>
            <a:r>
              <a:rPr lang="en-US" sz="2400">
                <a:ln w="22225">
                  <a:solidFill>
                    <a:schemeClr val="accent2"/>
                  </a:solidFill>
                  <a:prstDash val="solid"/>
                </a:ln>
                <a:solidFill>
                  <a:schemeClr val="accent2">
                    <a:lumMod val="40000"/>
                    <a:lumOff val="60000"/>
                  </a:schemeClr>
                </a:solidFill>
                <a:effectLst/>
              </a:rPr>
              <a:t>Solution And Methdology</a:t>
            </a:r>
            <a:endParaRPr lang="en-US" sz="240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4695" y="274955"/>
            <a:ext cx="11456670" cy="1058545"/>
          </a:xfrm>
          <a:blipFill rotWithShape="1">
            <a:blip r:embed="rId1"/>
            <a:tile tx="0" ty="0" sx="100000" sy="100000" flip="none" algn="tl"/>
          </a:blipFill>
        </p:spPr>
        <p:txBody>
          <a:bodyPr>
            <a:scene3d>
              <a:camera prst="orthographicFront"/>
              <a:lightRig rig="threePt" dir="t"/>
            </a:scene3d>
          </a:bodyPr>
          <a:p>
            <a:r>
              <a:rPr lang="en-US" sz="2400">
                <a:ln w="22225">
                  <a:solidFill>
                    <a:schemeClr val="accent2"/>
                  </a:solidFill>
                  <a:prstDash val="solid"/>
                </a:ln>
                <a:solidFill>
                  <a:schemeClr val="bg1"/>
                </a:solidFill>
                <a:effectLst/>
              </a:rPr>
              <a:t>Project Scope &amp; Goals </a:t>
            </a:r>
            <a:endParaRPr lang="en-US" sz="2400">
              <a:ln w="22225">
                <a:solidFill>
                  <a:schemeClr val="accent2"/>
                </a:solidFill>
                <a:prstDash val="solid"/>
              </a:ln>
              <a:solidFill>
                <a:schemeClr val="bg1"/>
              </a:solidFill>
              <a:effectLst/>
            </a:endParaRPr>
          </a:p>
        </p:txBody>
      </p:sp>
      <p:sp>
        <p:nvSpPr>
          <p:cNvPr id="3" name="Content Placeholder 2"/>
          <p:cNvSpPr>
            <a:spLocks noGrp="1"/>
          </p:cNvSpPr>
          <p:nvPr>
            <p:ph idx="1"/>
          </p:nvPr>
        </p:nvSpPr>
        <p:spPr>
          <a:xfrm>
            <a:off x="609600" y="1600200"/>
            <a:ext cx="11582400" cy="5153025"/>
          </a:xfrm>
          <a:blipFill rotWithShape="1">
            <a:blip r:embed="rId1"/>
            <a:tile tx="0" ty="0" sx="100000" sy="100000" flip="none" algn="tl"/>
          </a:blipFill>
        </p:spPr>
        <p:txBody>
          <a:bodyPr/>
          <a:p>
            <a:pPr marL="0" indent="0">
              <a:buNone/>
            </a:pPr>
            <a:r>
              <a:rPr lang="en-US" altLang="en-US" sz="2000" b="1" u="sng">
                <a:solidFill>
                  <a:schemeClr val="bg1"/>
                </a:solidFill>
              </a:rPr>
              <a:t>Project Scope</a:t>
            </a:r>
            <a:endParaRPr lang="en-US" altLang="en-US" sz="2000" b="1" u="sng">
              <a:solidFill>
                <a:schemeClr val="bg1"/>
              </a:solidFill>
            </a:endParaRPr>
          </a:p>
          <a:p>
            <a:pPr marL="0" indent="0">
              <a:buNone/>
            </a:pPr>
            <a:r>
              <a:rPr lang="en-US" altLang="en-US" sz="1600">
                <a:solidFill>
                  <a:schemeClr val="bg1"/>
                </a:solidFill>
              </a:rPr>
              <a:t>✔ Analysis of patient demographics &amp; genetic markers affecting drug efficacy.</a:t>
            </a:r>
            <a:endParaRPr lang="en-US" altLang="en-US" sz="1600">
              <a:solidFill>
                <a:schemeClr val="bg1"/>
              </a:solidFill>
            </a:endParaRPr>
          </a:p>
          <a:p>
            <a:pPr marL="0" indent="0">
              <a:buNone/>
            </a:pPr>
            <a:r>
              <a:rPr lang="en-US" altLang="en-US" sz="1600">
                <a:solidFill>
                  <a:schemeClr val="bg1"/>
                </a:solidFill>
              </a:rPr>
              <a:t>✔ Side effect pattern identification across different patient groups.</a:t>
            </a:r>
            <a:endParaRPr lang="en-US" altLang="en-US" sz="1600">
              <a:solidFill>
                <a:schemeClr val="bg1"/>
              </a:solidFill>
            </a:endParaRPr>
          </a:p>
          <a:p>
            <a:pPr marL="0" indent="0">
              <a:buNone/>
            </a:pPr>
            <a:r>
              <a:rPr lang="en-US" altLang="en-US" sz="1600">
                <a:solidFill>
                  <a:schemeClr val="bg1"/>
                </a:solidFill>
              </a:rPr>
              <a:t>✔ Survival analysis to determine effective treatment plans.</a:t>
            </a:r>
            <a:endParaRPr lang="en-US" altLang="en-US" sz="1600">
              <a:solidFill>
                <a:schemeClr val="bg1"/>
              </a:solidFill>
            </a:endParaRPr>
          </a:p>
          <a:p>
            <a:pPr marL="0" indent="0">
              <a:buNone/>
            </a:pPr>
            <a:r>
              <a:rPr lang="en-US" altLang="en-US" sz="1600">
                <a:solidFill>
                  <a:schemeClr val="bg1"/>
                </a:solidFill>
              </a:rPr>
              <a:t>✔ Data visualization using Looker Studio &amp; Excel to communicate insights.</a:t>
            </a:r>
            <a:endParaRPr lang="en-US" altLang="en-US" sz="1600">
              <a:solidFill>
                <a:schemeClr val="bg1"/>
              </a:solidFill>
            </a:endParaRPr>
          </a:p>
          <a:p>
            <a:pPr marL="0" indent="0">
              <a:buNone/>
            </a:pPr>
            <a:r>
              <a:rPr lang="en-US" altLang="en-US" sz="1600">
                <a:solidFill>
                  <a:schemeClr val="bg1"/>
                </a:solidFill>
              </a:rPr>
              <a:t>✔ Actionable recommendations for trial optimization &amp; treatment planning.</a:t>
            </a:r>
            <a:endParaRPr lang="en-US" altLang="en-US" sz="1600">
              <a:solidFill>
                <a:schemeClr val="bg1"/>
              </a:solidFill>
            </a:endParaRPr>
          </a:p>
          <a:p>
            <a:pPr marL="0" indent="0">
              <a:buNone/>
            </a:pPr>
            <a:r>
              <a:rPr lang="en-US" altLang="en-US" sz="2000" b="1" u="sng">
                <a:solidFill>
                  <a:schemeClr val="bg1"/>
                </a:solidFill>
              </a:rPr>
              <a:t>Goals And KPI’s</a:t>
            </a:r>
            <a:endParaRPr lang="en-US" altLang="en-US" sz="2000" b="1" u="sng">
              <a:solidFill>
                <a:schemeClr val="bg1"/>
              </a:solidFill>
            </a:endParaRPr>
          </a:p>
          <a:p>
            <a:pPr marL="0" indent="0">
              <a:buNone/>
            </a:pPr>
            <a:r>
              <a:rPr lang="en-US" altLang="en-US" sz="2000" b="1" u="sng">
                <a:solidFill>
                  <a:schemeClr val="bg1"/>
                </a:solidFill>
              </a:rPr>
              <a:t>Goals</a:t>
            </a:r>
            <a:endParaRPr lang="en-US" altLang="en-US" sz="2000" b="1" u="sng">
              <a:solidFill>
                <a:schemeClr val="bg1"/>
              </a:solidFill>
            </a:endParaRPr>
          </a:p>
          <a:p>
            <a:pPr>
              <a:buFont typeface="+mj-lt"/>
              <a:buAutoNum type="arabicPeriod"/>
            </a:pPr>
            <a:r>
              <a:rPr lang="en-US" altLang="en-US" sz="1600">
                <a:solidFill>
                  <a:schemeClr val="bg1"/>
                </a:solidFill>
              </a:rPr>
              <a:t>Identify Key Factors Influencing Drug Efficacy</a:t>
            </a:r>
            <a:endParaRPr lang="en-US" altLang="en-US" sz="1600">
              <a:solidFill>
                <a:schemeClr val="bg1"/>
              </a:solidFill>
            </a:endParaRPr>
          </a:p>
          <a:p>
            <a:pPr>
              <a:buFont typeface="+mj-lt"/>
              <a:buAutoNum type="arabicPeriod"/>
            </a:pPr>
            <a:r>
              <a:rPr lang="en-US" altLang="en-US" sz="1600">
                <a:solidFill>
                  <a:schemeClr val="bg1"/>
                </a:solidFill>
              </a:rPr>
              <a:t>Analyse patient demographics (age, gender, ethnicity) and genetic markers to determine their impact on drug effectiveness.</a:t>
            </a:r>
            <a:endParaRPr lang="en-US" altLang="en-US" sz="1600">
              <a:solidFill>
                <a:schemeClr val="bg1"/>
              </a:solidFill>
            </a:endParaRPr>
          </a:p>
          <a:p>
            <a:pPr>
              <a:buFont typeface="+mj-lt"/>
              <a:buAutoNum type="arabicPeriod"/>
            </a:pPr>
            <a:r>
              <a:rPr lang="en-US" altLang="en-US" sz="1600">
                <a:solidFill>
                  <a:schemeClr val="bg1"/>
                </a:solidFill>
              </a:rPr>
              <a:t>Identify biomarkers and genetic variations that correlate with better or worse treatment outcomes.</a:t>
            </a:r>
            <a:endParaRPr lang="en-US" altLang="en-US" sz="1600">
              <a:solidFill>
                <a:schemeClr val="bg1"/>
              </a:solidFill>
            </a:endParaRPr>
          </a:p>
          <a:p>
            <a:pPr>
              <a:buFont typeface="+mj-lt"/>
              <a:buAutoNum type="arabicPeriod"/>
            </a:pPr>
            <a:r>
              <a:rPr lang="en-US" altLang="en-US" sz="1600">
                <a:solidFill>
                  <a:schemeClr val="bg1"/>
                </a:solidFill>
              </a:rPr>
              <a:t>Detect Patterns in Side Effects</a:t>
            </a:r>
            <a:endParaRPr lang="en-US" altLang="en-US" sz="1600">
              <a:solidFill>
                <a:schemeClr val="bg1"/>
              </a:solidFill>
            </a:endParaRPr>
          </a:p>
          <a:p>
            <a:pPr>
              <a:buFont typeface="+mj-lt"/>
              <a:buAutoNum type="arabicPeriod"/>
            </a:pPr>
            <a:r>
              <a:rPr lang="en-US" altLang="en-US" sz="1600">
                <a:solidFill>
                  <a:schemeClr val="bg1"/>
                </a:solidFill>
              </a:rPr>
              <a:t>Examine adverse reactions across different demographic and genetic groups.</a:t>
            </a:r>
            <a:endParaRPr lang="en-US" altLang="en-US" sz="1600">
              <a:solidFill>
                <a:schemeClr val="bg1"/>
              </a:solidFill>
            </a:endParaRPr>
          </a:p>
          <a:p>
            <a:pPr marL="0" indent="0">
              <a:buNone/>
            </a:pPr>
            <a:r>
              <a:rPr lang="en-US" altLang="en-US" sz="1600">
                <a:solidFill>
                  <a:schemeClr val="bg1"/>
                </a:solidFill>
              </a:rPr>
              <a:t>6. Identify high-risk patient groups for specific side effects to improve drug safety.</a:t>
            </a:r>
            <a:endParaRPr lang="en-US" altLang="en-US" sz="1600">
              <a:solidFill>
                <a:schemeClr val="bg1"/>
              </a:solidFill>
            </a:endParaRPr>
          </a:p>
          <a:p>
            <a:pPr marL="0" indent="0">
              <a:buNone/>
            </a:pPr>
            <a:r>
              <a:rPr lang="en-US" altLang="en-US" sz="2000" b="1" u="sng">
                <a:solidFill>
                  <a:schemeClr val="accent6"/>
                </a:solidFill>
              </a:rPr>
              <a:t>  </a:t>
            </a:r>
            <a:endParaRPr lang="en-US" altLang="en-US" sz="2000" b="1" u="sng">
              <a:solidFill>
                <a:schemeClr val="accent6"/>
              </a:solidFill>
            </a:endParaRPr>
          </a:p>
        </p:txBody>
      </p:sp>
      <p:pic>
        <p:nvPicPr>
          <p:cNvPr id="10" name="Picture 9" descr="LOGo2"/>
          <p:cNvPicPr>
            <a:picLocks noChangeAspect="1"/>
          </p:cNvPicPr>
          <p:nvPr/>
        </p:nvPicPr>
        <p:blipFill>
          <a:blip r:embed="rId2"/>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74955"/>
            <a:ext cx="12192000" cy="1143000"/>
          </a:xfrm>
          <a:blipFill rotWithShape="1">
            <a:blip r:embed="rId3"/>
            <a:tile tx="0" ty="0" sx="100000" sy="100000" flip="none" algn="tl"/>
          </a:blipFill>
        </p:spPr>
        <p:txBody>
          <a:bodyPr/>
          <a:p>
            <a:r>
              <a:rPr lang="en-US" sz="2400">
                <a:ln w="22225">
                  <a:solidFill>
                    <a:schemeClr val="accent2"/>
                  </a:solidFill>
                  <a:prstDash val="solid"/>
                </a:ln>
                <a:solidFill>
                  <a:schemeClr val="accent2">
                    <a:lumMod val="40000"/>
                    <a:lumOff val="60000"/>
                  </a:schemeClr>
                </a:solidFill>
                <a:effectLst/>
              </a:rPr>
              <a:t>KPI’s[Key Performance Indicator]</a:t>
            </a:r>
            <a:endParaRPr lang="en-US" sz="2400">
              <a:ln w="22225">
                <a:solidFill>
                  <a:schemeClr val="accent2"/>
                </a:solidFill>
                <a:prstDash val="solid"/>
              </a:ln>
              <a:solidFill>
                <a:schemeClr val="accent2">
                  <a:lumMod val="40000"/>
                  <a:lumOff val="60000"/>
                </a:schemeClr>
              </a:solidFill>
              <a:effectLst/>
            </a:endParaRPr>
          </a:p>
        </p:txBody>
      </p:sp>
      <p:sp>
        <p:nvSpPr>
          <p:cNvPr id="3" name="Content Placeholder 2"/>
          <p:cNvSpPr>
            <a:spLocks noGrp="1"/>
          </p:cNvSpPr>
          <p:nvPr>
            <p:ph idx="1"/>
          </p:nvPr>
        </p:nvSpPr>
        <p:spPr>
          <a:xfrm>
            <a:off x="0" y="1600200"/>
            <a:ext cx="12192000" cy="5194935"/>
          </a:xfrm>
          <a:blipFill rotWithShape="1">
            <a:blip r:embed="rId3"/>
            <a:tile tx="0" ty="0" sx="100000" sy="100000" flip="none" algn="tl"/>
          </a:blipFill>
        </p:spPr>
        <p:txBody>
          <a:bodyPr/>
          <a:p>
            <a:pPr marL="0" indent="0">
              <a:buNone/>
            </a:pPr>
            <a:r>
              <a:rPr lang="en-US" altLang="en-US" sz="1600" b="1">
                <a:solidFill>
                  <a:schemeClr val="bg1"/>
                </a:solidFill>
              </a:rPr>
              <a:t>1-Clinical Trial Optimization</a:t>
            </a:r>
            <a:endParaRPr lang="en-US" altLang="en-US" sz="1600" b="1">
              <a:solidFill>
                <a:schemeClr val="bg1"/>
              </a:solidFill>
            </a:endParaRPr>
          </a:p>
          <a:p>
            <a:r>
              <a:rPr lang="en-US" altLang="en-US" sz="1600" b="1">
                <a:solidFill>
                  <a:schemeClr val="bg1"/>
                </a:solidFill>
              </a:rPr>
              <a:t>Age group 18-30 are more participating in clinical trial.</a:t>
            </a:r>
            <a:endParaRPr lang="en-US" altLang="en-US" sz="1600" b="1">
              <a:solidFill>
                <a:schemeClr val="bg1"/>
              </a:solidFill>
            </a:endParaRPr>
          </a:p>
          <a:p>
            <a:r>
              <a:rPr lang="en-US" altLang="en-US" sz="1600" b="1">
                <a:solidFill>
                  <a:schemeClr val="bg1"/>
                </a:solidFill>
              </a:rPr>
              <a:t>Age group 83-85 are less participating in clinical trial</a:t>
            </a:r>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a:p>
            <a:r>
              <a:rPr lang="en-US" altLang="en-US" sz="1600" b="1">
                <a:solidFill>
                  <a:schemeClr val="bg1"/>
                </a:solidFill>
              </a:rPr>
              <a:t>Trial Phase I Drug is more advanced in trial Phase. So we can use further in R &amp; D team.</a:t>
            </a:r>
            <a:endParaRPr lang="en-US" altLang="en-US" sz="1600" b="1">
              <a:solidFill>
                <a:schemeClr val="bg1"/>
              </a:solidFill>
            </a:endParaRPr>
          </a:p>
          <a:p>
            <a:endParaRPr lang="en-US" altLang="en-US" sz="1600" b="1">
              <a:solidFill>
                <a:schemeClr val="bg1"/>
              </a:solidFill>
            </a:endParaRPr>
          </a:p>
          <a:p>
            <a:endParaRPr lang="en-US" altLang="en-US" sz="1600" b="1">
              <a:solidFill>
                <a:schemeClr val="bg1"/>
              </a:solidFill>
            </a:endParaRPr>
          </a:p>
        </p:txBody>
      </p:sp>
      <p:pic>
        <p:nvPicPr>
          <p:cNvPr id="10" name="Picture 9" descr="LOGo2"/>
          <p:cNvPicPr>
            <a:picLocks noChangeAspect="1"/>
          </p:cNvPicPr>
          <p:nvPr/>
        </p:nvPicPr>
        <p:blipFill>
          <a:blip r:embed="rId4"/>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graphicFrame>
        <p:nvGraphicFramePr>
          <p:cNvPr id="7" name="Table 6"/>
          <p:cNvGraphicFramePr/>
          <p:nvPr>
            <p:custDataLst>
              <p:tags r:id="rId5"/>
            </p:custDataLst>
          </p:nvPr>
        </p:nvGraphicFramePr>
        <p:xfrm>
          <a:off x="468630" y="2573020"/>
          <a:ext cx="2839085" cy="1882775"/>
        </p:xfrm>
        <a:graphic>
          <a:graphicData uri="http://schemas.openxmlformats.org/drawingml/2006/table">
            <a:tbl>
              <a:tblPr/>
              <a:tblGrid>
                <a:gridCol w="1440180"/>
                <a:gridCol w="1398905"/>
              </a:tblGrid>
              <a:tr h="220980">
                <a:tc>
                  <a:txBody>
                    <a:bodyPr/>
                    <a:p>
                      <a:pPr algn="l" fontAlgn="b"/>
                      <a:r>
                        <a:rPr sz="1100" b="1" i="0">
                          <a:solidFill>
                            <a:srgbClr val="FF0000"/>
                          </a:solidFill>
                          <a:latin typeface="Calibri" panose="020F0502020204030204"/>
                          <a:ea typeface="Calibri" panose="020F0502020204030204"/>
                        </a:rPr>
                        <a:t>Age</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FF0000"/>
                          </a:solidFill>
                          <a:latin typeface="Calibri" panose="020F0502020204030204"/>
                          <a:ea typeface="Calibri" panose="020F0502020204030204"/>
                        </a:rPr>
                        <a:t>Count of Patient_ID</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220345">
                <a:tc>
                  <a:txBody>
                    <a:bodyPr/>
                    <a:p>
                      <a:pPr algn="l" fontAlgn="b"/>
                      <a:r>
                        <a:rPr sz="1100" b="0" i="0">
                          <a:solidFill>
                            <a:srgbClr val="000000"/>
                          </a:solidFill>
                          <a:latin typeface="Calibri" panose="020F0502020204030204"/>
                          <a:ea typeface="Calibri" panose="020F0502020204030204"/>
                        </a:rPr>
                        <a:t>18-30</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FF0000"/>
                          </a:solidFill>
                          <a:latin typeface="Calibri" panose="020F0502020204030204"/>
                          <a:ea typeface="Calibri" panose="020F0502020204030204"/>
                        </a:rPr>
                        <a:t>197</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337820">
                <a:tc>
                  <a:txBody>
                    <a:bodyPr/>
                    <a:p>
                      <a:pPr algn="l" fontAlgn="b"/>
                      <a:r>
                        <a:rPr sz="1100" b="0" i="0">
                          <a:solidFill>
                            <a:srgbClr val="000000"/>
                          </a:solidFill>
                          <a:latin typeface="Calibri" panose="020F0502020204030204"/>
                          <a:ea typeface="Calibri" panose="020F0502020204030204"/>
                        </a:rPr>
                        <a:t>57-69</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194</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20345">
                <a:tc>
                  <a:txBody>
                    <a:bodyPr/>
                    <a:p>
                      <a:pPr algn="l" fontAlgn="b"/>
                      <a:r>
                        <a:rPr sz="1100" b="0" i="0">
                          <a:solidFill>
                            <a:srgbClr val="000000"/>
                          </a:solidFill>
                          <a:latin typeface="Calibri" panose="020F0502020204030204"/>
                          <a:ea typeface="Calibri" panose="020F0502020204030204"/>
                        </a:rPr>
                        <a:t>31-43</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194</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20980">
                <a:tc>
                  <a:txBody>
                    <a:bodyPr/>
                    <a:p>
                      <a:pPr algn="l" fontAlgn="b"/>
                      <a:r>
                        <a:rPr sz="1100" b="0" i="0">
                          <a:solidFill>
                            <a:srgbClr val="000000"/>
                          </a:solidFill>
                          <a:latin typeface="Calibri" panose="020F0502020204030204"/>
                          <a:ea typeface="Calibri" panose="020F0502020204030204"/>
                        </a:rPr>
                        <a:t>70-82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192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20980">
                <a:tc>
                  <a:txBody>
                    <a:bodyPr/>
                    <a:p>
                      <a:pPr algn="l" fontAlgn="b"/>
                      <a:r>
                        <a:rPr sz="1100" b="0" i="0">
                          <a:solidFill>
                            <a:srgbClr val="000000"/>
                          </a:solidFill>
                          <a:latin typeface="Calibri" panose="020F0502020204030204"/>
                          <a:ea typeface="Calibri" panose="020F0502020204030204"/>
                        </a:rPr>
                        <a:t>44-56</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186</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20345">
                <a:tc>
                  <a:txBody>
                    <a:bodyPr/>
                    <a:p>
                      <a:pPr algn="l" fontAlgn="b"/>
                      <a:r>
                        <a:rPr sz="1100" b="0" i="0">
                          <a:solidFill>
                            <a:srgbClr val="000000"/>
                          </a:solidFill>
                          <a:latin typeface="Calibri" panose="020F0502020204030204"/>
                          <a:ea typeface="Calibri" panose="020F0502020204030204"/>
                        </a:rPr>
                        <a:t>83-85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37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220980">
                <a:tc>
                  <a:txBody>
                    <a:bodyPr/>
                    <a:p>
                      <a:pPr algn="l" fontAlgn="b"/>
                      <a:r>
                        <a:rPr sz="1100" b="1" i="0">
                          <a:solidFill>
                            <a:srgbClr val="FF0000"/>
                          </a:solidFill>
                          <a:latin typeface="Calibri" panose="020F0502020204030204"/>
                          <a:ea typeface="Calibri" panose="020F0502020204030204"/>
                        </a:rPr>
                        <a:t>Grand Total</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FF0000"/>
                          </a:solidFill>
                          <a:latin typeface="Calibri" panose="020F0502020204030204"/>
                          <a:ea typeface="Calibri" panose="020F0502020204030204"/>
                        </a:rPr>
                        <a:t>1000</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graphicFrame>
        <p:nvGraphicFramePr>
          <p:cNvPr id="8" name="Chart 7"/>
          <p:cNvGraphicFramePr/>
          <p:nvPr/>
        </p:nvGraphicFramePr>
        <p:xfrm>
          <a:off x="3683000" y="2573020"/>
          <a:ext cx="4826000" cy="188277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 name="Table 8"/>
          <p:cNvGraphicFramePr/>
          <p:nvPr>
            <p:custDataLst>
              <p:tags r:id="rId6"/>
            </p:custDataLst>
          </p:nvPr>
        </p:nvGraphicFramePr>
        <p:xfrm>
          <a:off x="468630" y="4829810"/>
          <a:ext cx="3028950" cy="1899920"/>
        </p:xfrm>
        <a:graphic>
          <a:graphicData uri="http://schemas.openxmlformats.org/drawingml/2006/table">
            <a:tbl>
              <a:tblPr/>
              <a:tblGrid>
                <a:gridCol w="1193800"/>
                <a:gridCol w="1835150"/>
              </a:tblGrid>
              <a:tr h="272415">
                <a:tc>
                  <a:txBody>
                    <a:bodyPr/>
                    <a:p>
                      <a:pPr algn="l" fontAlgn="b"/>
                      <a:r>
                        <a:rPr sz="1100" b="1" i="0">
                          <a:solidFill>
                            <a:srgbClr val="000000"/>
                          </a:solidFill>
                          <a:latin typeface="Calibri" panose="020F0502020204030204"/>
                          <a:ea typeface="Calibri" panose="020F0502020204030204"/>
                        </a:rPr>
                        <a:t>Trial_Phase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Count of Drug_Name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535940">
                <a:tc>
                  <a:txBody>
                    <a:bodyPr/>
                    <a:p>
                      <a:pPr algn="l" fontAlgn="b"/>
                      <a:r>
                        <a:rPr sz="1100" b="0" i="0">
                          <a:solidFill>
                            <a:srgbClr val="000000"/>
                          </a:solidFill>
                          <a:latin typeface="Calibri" panose="020F0502020204030204"/>
                          <a:ea typeface="Calibri" panose="020F0502020204030204"/>
                        </a:rPr>
                        <a:t>Phase I</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257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273050">
                <a:tc>
                  <a:txBody>
                    <a:bodyPr/>
                    <a:p>
                      <a:pPr algn="l" fontAlgn="b"/>
                      <a:r>
                        <a:rPr sz="1100" b="0" i="0">
                          <a:solidFill>
                            <a:srgbClr val="000000"/>
                          </a:solidFill>
                          <a:latin typeface="Calibri" panose="020F0502020204030204"/>
                          <a:ea typeface="Calibri" panose="020F0502020204030204"/>
                        </a:rPr>
                        <a:t>Phase II</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248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72415">
                <a:tc>
                  <a:txBody>
                    <a:bodyPr/>
                    <a:p>
                      <a:pPr algn="l" fontAlgn="b"/>
                      <a:r>
                        <a:rPr sz="1100" b="0" i="0">
                          <a:solidFill>
                            <a:srgbClr val="000000"/>
                          </a:solidFill>
                          <a:latin typeface="Calibri" panose="020F0502020204030204"/>
                          <a:ea typeface="Calibri" panose="020F0502020204030204"/>
                        </a:rPr>
                        <a:t>Phase III</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255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73685">
                <a:tc>
                  <a:txBody>
                    <a:bodyPr/>
                    <a:p>
                      <a:pPr algn="l" fontAlgn="b"/>
                      <a:r>
                        <a:rPr sz="1100" b="0" i="0">
                          <a:solidFill>
                            <a:srgbClr val="000000"/>
                          </a:solidFill>
                          <a:latin typeface="Calibri" panose="020F0502020204030204"/>
                          <a:ea typeface="Calibri" panose="020F0502020204030204"/>
                        </a:rPr>
                        <a:t>Phase IV</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240</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272415">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1000</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graphicFrame>
        <p:nvGraphicFramePr>
          <p:cNvPr id="11" name="Chart 10"/>
          <p:cNvGraphicFramePr/>
          <p:nvPr/>
        </p:nvGraphicFramePr>
        <p:xfrm>
          <a:off x="3683000" y="4829810"/>
          <a:ext cx="4826000" cy="196596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1582400" cy="1143000"/>
          </a:xfrm>
          <a:blipFill>
            <a:blip r:embed="rId2"/>
          </a:blipFill>
        </p:spPr>
        <p:txBody>
          <a:bodyPr/>
          <a:p>
            <a:r>
              <a:rPr lang="en-US" sz="2400">
                <a:ln w="22225">
                  <a:solidFill>
                    <a:schemeClr val="accent2"/>
                  </a:solidFill>
                  <a:prstDash val="solid"/>
                </a:ln>
                <a:solidFill>
                  <a:schemeClr val="accent2">
                    <a:lumMod val="40000"/>
                    <a:lumOff val="60000"/>
                  </a:schemeClr>
                </a:solidFill>
                <a:effectLst/>
                <a:sym typeface="+mn-ea"/>
              </a:rPr>
              <a:t>KPI’s[Key Performance Indicators]</a:t>
            </a:r>
            <a:endParaRPr lang="en-US" sz="2400"/>
          </a:p>
        </p:txBody>
      </p:sp>
      <p:sp>
        <p:nvSpPr>
          <p:cNvPr id="3" name="Content Placeholder 2"/>
          <p:cNvSpPr>
            <a:spLocks noGrp="1"/>
          </p:cNvSpPr>
          <p:nvPr>
            <p:ph idx="1"/>
          </p:nvPr>
        </p:nvSpPr>
        <p:spPr>
          <a:xfrm>
            <a:off x="609600" y="1600200"/>
            <a:ext cx="11523980" cy="5190490"/>
          </a:xfrm>
          <a:blipFill rotWithShape="1">
            <a:blip r:embed="rId2"/>
            <a:tile tx="0" ty="0" sx="100000" sy="100000" flip="none" algn="tl"/>
          </a:blipFill>
        </p:spPr>
        <p:txBody>
          <a:bodyPr/>
          <a:p>
            <a:r>
              <a:rPr lang="en-US" altLang="en-US" sz="1600">
                <a:solidFill>
                  <a:schemeClr val="bg1"/>
                </a:solidFill>
              </a:rPr>
              <a:t>Drug C has the most reported side effects.</a:t>
            </a:r>
            <a:endParaRPr lang="en-US" altLang="en-US" sz="1600">
              <a:solidFill>
                <a:schemeClr val="bg1"/>
              </a:solidFill>
            </a:endParaRPr>
          </a:p>
          <a:p>
            <a:r>
              <a:rPr lang="en-US" altLang="en-US" sz="1600">
                <a:solidFill>
                  <a:schemeClr val="bg1"/>
                </a:solidFill>
              </a:rPr>
              <a:t>Drug B has the least reported side effects.</a:t>
            </a:r>
            <a:endParaRPr lang="en-US" altLang="en-US" sz="1600">
              <a:solidFill>
                <a:schemeClr val="bg1"/>
              </a:solidFill>
            </a:endParaRPr>
          </a:p>
        </p:txBody>
      </p:sp>
      <p:pic>
        <p:nvPicPr>
          <p:cNvPr id="10" name="Picture 9" descr="LOGo2"/>
          <p:cNvPicPr>
            <a:picLocks noChangeAspect="1"/>
          </p:cNvPicPr>
          <p:nvPr/>
        </p:nvPicPr>
        <p:blipFill>
          <a:blip r:embed="rId3"/>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graphicFrame>
        <p:nvGraphicFramePr>
          <p:cNvPr id="4" name="Table 3"/>
          <p:cNvGraphicFramePr/>
          <p:nvPr>
            <p:custDataLst>
              <p:tags r:id="rId4"/>
            </p:custDataLst>
          </p:nvPr>
        </p:nvGraphicFramePr>
        <p:xfrm>
          <a:off x="1118870" y="2193412"/>
          <a:ext cx="4414520" cy="3522223"/>
        </p:xfrm>
        <a:graphic>
          <a:graphicData uri="http://schemas.openxmlformats.org/drawingml/2006/table">
            <a:tbl>
              <a:tblPr/>
              <a:tblGrid>
                <a:gridCol w="1021080"/>
                <a:gridCol w="679450"/>
                <a:gridCol w="679450"/>
                <a:gridCol w="678815"/>
                <a:gridCol w="679450"/>
                <a:gridCol w="559435"/>
              </a:tblGrid>
              <a:tr h="561975">
                <a:tc>
                  <a:txBody>
                    <a:bodyPr/>
                    <a:p>
                      <a:pPr algn="l" fontAlgn="b"/>
                      <a:r>
                        <a:rPr sz="1100" b="1" i="0">
                          <a:solidFill>
                            <a:srgbClr val="000000"/>
                          </a:solidFill>
                          <a:latin typeface="Calibri" panose="020F0502020204030204"/>
                          <a:ea typeface="Calibri" panose="020F0502020204030204"/>
                        </a:rPr>
                        <a:t>Count of Side_Effects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Side_Effects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561975">
                <a:tc>
                  <a:txBody>
                    <a:bodyPr/>
                    <a:p>
                      <a:pPr algn="l" fontAlgn="b"/>
                      <a:r>
                        <a:rPr sz="1100" b="1" i="0">
                          <a:solidFill>
                            <a:srgbClr val="000000"/>
                          </a:solidFill>
                          <a:latin typeface="Calibri" panose="020F0502020204030204"/>
                          <a:ea typeface="Calibri" panose="020F0502020204030204"/>
                        </a:rPr>
                        <a:t>Drug_Name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Dizziness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Fatigue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Headache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Nausea</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r>
              <a:tr h="461010">
                <a:tc>
                  <a:txBody>
                    <a:bodyPr/>
                    <a:p>
                      <a:pPr algn="l" fontAlgn="b"/>
                      <a:r>
                        <a:rPr sz="1100" b="0" i="0">
                          <a:solidFill>
                            <a:srgbClr val="000000"/>
                          </a:solidFill>
                          <a:latin typeface="Calibri" panose="020F0502020204030204"/>
                          <a:ea typeface="Calibri" panose="020F0502020204030204"/>
                        </a:rPr>
                        <a:t>DrugA</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52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55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45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57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209</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461010">
                <a:tc>
                  <a:txBody>
                    <a:bodyPr/>
                    <a:p>
                      <a:pPr algn="l" fontAlgn="b"/>
                      <a:r>
                        <a:rPr sz="1100" b="0" i="0">
                          <a:solidFill>
                            <a:srgbClr val="FF0000"/>
                          </a:solidFill>
                          <a:latin typeface="Calibri" panose="020F0502020204030204"/>
                          <a:ea typeface="Calibri" panose="020F0502020204030204"/>
                        </a:rPr>
                        <a:t>DrugB</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c>
                  <a:txBody>
                    <a:bodyPr/>
                    <a:p>
                      <a:pPr algn="r" fontAlgn="b"/>
                      <a:r>
                        <a:rPr sz="1100" b="0" i="0">
                          <a:solidFill>
                            <a:srgbClr val="FF0000"/>
                          </a:solidFill>
                          <a:latin typeface="Calibri" panose="020F0502020204030204"/>
                          <a:ea typeface="Calibri" panose="020F0502020204030204"/>
                        </a:rPr>
                        <a:t>38</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c>
                  <a:txBody>
                    <a:bodyPr/>
                    <a:p>
                      <a:pPr algn="r" fontAlgn="b"/>
                      <a:r>
                        <a:rPr sz="1100" b="0" i="0">
                          <a:solidFill>
                            <a:srgbClr val="FF0000"/>
                          </a:solidFill>
                          <a:latin typeface="Calibri" panose="020F0502020204030204"/>
                          <a:ea typeface="Calibri" panose="020F0502020204030204"/>
                        </a:rPr>
                        <a:t>51</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c>
                  <a:txBody>
                    <a:bodyPr/>
                    <a:p>
                      <a:pPr algn="r" fontAlgn="b"/>
                      <a:r>
                        <a:rPr sz="1100" b="0" i="0">
                          <a:solidFill>
                            <a:srgbClr val="FF0000"/>
                          </a:solidFill>
                          <a:latin typeface="Calibri" panose="020F0502020204030204"/>
                          <a:ea typeface="Calibri" panose="020F0502020204030204"/>
                        </a:rPr>
                        <a:t>45</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c>
                  <a:txBody>
                    <a:bodyPr/>
                    <a:p>
                      <a:pPr algn="r" fontAlgn="b"/>
                      <a:r>
                        <a:rPr sz="1100" b="0" i="0">
                          <a:solidFill>
                            <a:srgbClr val="FF0000"/>
                          </a:solidFill>
                          <a:latin typeface="Calibri" panose="020F0502020204030204"/>
                          <a:ea typeface="Calibri" panose="020F0502020204030204"/>
                        </a:rPr>
                        <a:t>56</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c>
                  <a:txBody>
                    <a:bodyPr/>
                    <a:p>
                      <a:pPr algn="r" fontAlgn="b"/>
                      <a:r>
                        <a:rPr sz="1100" b="0" i="0">
                          <a:solidFill>
                            <a:srgbClr val="FF0000"/>
                          </a:solidFill>
                          <a:latin typeface="Calibri" panose="020F0502020204030204"/>
                          <a:ea typeface="Calibri" panose="020F0502020204030204"/>
                        </a:rPr>
                        <a:t>190</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00B050"/>
                    </a:solidFill>
                  </a:tcPr>
                </a:tc>
              </a:tr>
              <a:tr h="461010">
                <a:tc>
                  <a:txBody>
                    <a:bodyPr/>
                    <a:p>
                      <a:pPr algn="l" fontAlgn="b"/>
                      <a:r>
                        <a:rPr sz="1100" b="0" i="0">
                          <a:solidFill>
                            <a:srgbClr val="FF0000"/>
                          </a:solidFill>
                          <a:latin typeface="Calibri" panose="020F0502020204030204"/>
                          <a:ea typeface="Calibri" panose="020F0502020204030204"/>
                        </a:rPr>
                        <a:t>DrugC</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c>
                  <a:txBody>
                    <a:bodyPr/>
                    <a:p>
                      <a:pPr algn="r" fontAlgn="b"/>
                      <a:r>
                        <a:rPr sz="1100" b="0" i="0">
                          <a:solidFill>
                            <a:srgbClr val="FF0000"/>
                          </a:solidFill>
                          <a:latin typeface="Calibri" panose="020F0502020204030204"/>
                          <a:ea typeface="Calibri" panose="020F0502020204030204"/>
                        </a:rPr>
                        <a:t>57</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c>
                  <a:txBody>
                    <a:bodyPr/>
                    <a:p>
                      <a:pPr algn="r" fontAlgn="b"/>
                      <a:r>
                        <a:rPr sz="1100" b="0" i="0">
                          <a:solidFill>
                            <a:srgbClr val="FF0000"/>
                          </a:solidFill>
                          <a:latin typeface="Calibri" panose="020F0502020204030204"/>
                          <a:ea typeface="Calibri" panose="020F0502020204030204"/>
                        </a:rPr>
                        <a:t>48</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c>
                  <a:txBody>
                    <a:bodyPr/>
                    <a:p>
                      <a:pPr algn="r" fontAlgn="b"/>
                      <a:r>
                        <a:rPr sz="1100" b="0" i="0">
                          <a:solidFill>
                            <a:srgbClr val="FF0000"/>
                          </a:solidFill>
                          <a:latin typeface="Calibri" panose="020F0502020204030204"/>
                          <a:ea typeface="Calibri" panose="020F0502020204030204"/>
                        </a:rPr>
                        <a:t>60</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c>
                  <a:txBody>
                    <a:bodyPr/>
                    <a:p>
                      <a:pPr algn="r" fontAlgn="b"/>
                      <a:r>
                        <a:rPr sz="1100" b="0" i="0">
                          <a:solidFill>
                            <a:srgbClr val="FF0000"/>
                          </a:solidFill>
                          <a:latin typeface="Calibri" panose="020F0502020204030204"/>
                          <a:ea typeface="Calibri" panose="020F0502020204030204"/>
                        </a:rPr>
                        <a:t>58</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c>
                  <a:txBody>
                    <a:bodyPr/>
                    <a:p>
                      <a:pPr algn="r" fontAlgn="b"/>
                      <a:r>
                        <a:rPr sz="1100" b="0" i="0">
                          <a:solidFill>
                            <a:srgbClr val="FF0000"/>
                          </a:solidFill>
                          <a:latin typeface="Calibri" panose="020F0502020204030204"/>
                          <a:ea typeface="Calibri" panose="020F0502020204030204"/>
                        </a:rPr>
                        <a:t>223</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r>
              <a:tr h="461010">
                <a:tc>
                  <a:txBody>
                    <a:bodyPr/>
                    <a:p>
                      <a:pPr algn="l" fontAlgn="b"/>
                      <a:r>
                        <a:rPr sz="1100" b="0" i="0">
                          <a:solidFill>
                            <a:srgbClr val="000000"/>
                          </a:solidFill>
                          <a:latin typeface="Calibri" panose="020F0502020204030204"/>
                          <a:ea typeface="Calibri" panose="020F0502020204030204"/>
                        </a:rPr>
                        <a:t>DrugD</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62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51</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56</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42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211</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461010">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209</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205</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206</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213</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833</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graphicFrame>
        <p:nvGraphicFramePr>
          <p:cNvPr id="5" name="Chart 4"/>
          <p:cNvGraphicFramePr/>
          <p:nvPr/>
        </p:nvGraphicFramePr>
        <p:xfrm>
          <a:off x="5952490" y="2193290"/>
          <a:ext cx="5293995" cy="35941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1582400" cy="1143000"/>
          </a:xfrm>
          <a:blipFill>
            <a:blip r:embed="rId3"/>
          </a:blipFill>
        </p:spPr>
        <p:txBody>
          <a:bodyPr/>
          <a:p>
            <a:r>
              <a:rPr lang="en-US" sz="2400">
                <a:ln w="22225">
                  <a:solidFill>
                    <a:schemeClr val="accent2"/>
                  </a:solidFill>
                  <a:prstDash val="solid"/>
                </a:ln>
                <a:solidFill>
                  <a:schemeClr val="accent2">
                    <a:lumMod val="40000"/>
                    <a:lumOff val="60000"/>
                  </a:schemeClr>
                </a:solidFill>
                <a:effectLst/>
                <a:sym typeface="+mn-ea"/>
              </a:rPr>
              <a:t>KPI’s[Key Performance Indicators]</a:t>
            </a:r>
            <a:endParaRPr lang="en-US" sz="2400"/>
          </a:p>
        </p:txBody>
      </p:sp>
      <p:sp>
        <p:nvSpPr>
          <p:cNvPr id="3" name="Content Placeholder 2"/>
          <p:cNvSpPr>
            <a:spLocks noGrp="1"/>
          </p:cNvSpPr>
          <p:nvPr>
            <p:ph idx="1"/>
          </p:nvPr>
        </p:nvSpPr>
        <p:spPr>
          <a:xfrm>
            <a:off x="609600" y="1600200"/>
            <a:ext cx="11582400" cy="5258435"/>
          </a:xfrm>
          <a:blipFill rotWithShape="1">
            <a:blip r:embed="rId3"/>
            <a:tile tx="0" ty="0" sx="100000" sy="100000" flip="none" algn="tl"/>
          </a:blipFill>
        </p:spPr>
        <p:txBody>
          <a:bodyPr/>
          <a:p>
            <a:r>
              <a:rPr lang="en-US" altLang="en-US" sz="1600">
                <a:solidFill>
                  <a:schemeClr val="bg1"/>
                </a:solidFill>
              </a:rPr>
              <a:t>4. Number of patients in each ethnicity category: African American ethnicity group patients are maximum:208</a:t>
            </a:r>
            <a:endParaRPr lang="en-US" altLang="en-US" sz="1600">
              <a:solidFill>
                <a:schemeClr val="bg1"/>
              </a:solidFill>
            </a:endParaRPr>
          </a:p>
          <a:p>
            <a:r>
              <a:rPr lang="en-US" altLang="en-US" sz="1600">
                <a:solidFill>
                  <a:schemeClr val="bg1"/>
                </a:solidFill>
              </a:rPr>
              <a:t>Others Ethnicity group have less patients which are:191</a:t>
            </a:r>
            <a:endParaRPr lang="en-US" altLang="en-US" sz="1600">
              <a:solidFill>
                <a:schemeClr val="bg1"/>
              </a:solidFill>
            </a:endParaRPr>
          </a:p>
          <a:p>
            <a:endParaRPr lang="en-US" altLang="en-US" sz="1600">
              <a:solidFill>
                <a:schemeClr val="bg1"/>
              </a:solidFill>
            </a:endParaRPr>
          </a:p>
          <a:p>
            <a:endParaRPr lang="en-US" altLang="en-US" sz="1600">
              <a:solidFill>
                <a:schemeClr val="bg1"/>
              </a:solidFill>
            </a:endParaRPr>
          </a:p>
          <a:p>
            <a:endParaRPr lang="en-US" altLang="en-US" sz="1600">
              <a:solidFill>
                <a:schemeClr val="bg1"/>
              </a:solidFill>
            </a:endParaRPr>
          </a:p>
          <a:p>
            <a:endParaRPr lang="en-US" altLang="en-US" sz="1600">
              <a:solidFill>
                <a:schemeClr val="bg1"/>
              </a:solidFill>
            </a:endParaRPr>
          </a:p>
          <a:p>
            <a:endParaRPr lang="en-US" altLang="en-US" sz="1600">
              <a:solidFill>
                <a:schemeClr val="bg1"/>
              </a:solidFill>
            </a:endParaRPr>
          </a:p>
          <a:p>
            <a:r>
              <a:rPr lang="en-US" altLang="en-US" sz="1600">
                <a:solidFill>
                  <a:schemeClr val="bg1"/>
                </a:solidFill>
              </a:rPr>
              <a:t>5.  The average dose administered for each drug.</a:t>
            </a:r>
            <a:endParaRPr lang="en-US" altLang="en-US" sz="1600">
              <a:solidFill>
                <a:schemeClr val="bg1"/>
              </a:solidFill>
            </a:endParaRPr>
          </a:p>
          <a:p>
            <a:endParaRPr lang="en-US" altLang="en-US" sz="1600">
              <a:solidFill>
                <a:schemeClr val="bg1"/>
              </a:solidFill>
            </a:endParaRPr>
          </a:p>
          <a:p>
            <a:endParaRPr lang="en-US" altLang="en-US" sz="1600">
              <a:solidFill>
                <a:schemeClr val="bg1"/>
              </a:solidFill>
            </a:endParaRPr>
          </a:p>
        </p:txBody>
      </p:sp>
      <p:pic>
        <p:nvPicPr>
          <p:cNvPr id="10" name="Picture 9" descr="LOGo2"/>
          <p:cNvPicPr>
            <a:picLocks noChangeAspect="1"/>
          </p:cNvPicPr>
          <p:nvPr/>
        </p:nvPicPr>
        <p:blipFill>
          <a:blip r:embed="rId4"/>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graphicFrame>
        <p:nvGraphicFramePr>
          <p:cNvPr id="4" name="Table 3"/>
          <p:cNvGraphicFramePr/>
          <p:nvPr>
            <p:custDataLst>
              <p:tags r:id="rId5"/>
            </p:custDataLst>
          </p:nvPr>
        </p:nvGraphicFramePr>
        <p:xfrm>
          <a:off x="1061085" y="2162175"/>
          <a:ext cx="3215640" cy="1422400"/>
        </p:xfrm>
        <a:graphic>
          <a:graphicData uri="http://schemas.openxmlformats.org/drawingml/2006/table">
            <a:tbl>
              <a:tblPr/>
              <a:tblGrid>
                <a:gridCol w="1471295"/>
                <a:gridCol w="1744345"/>
              </a:tblGrid>
              <a:tr h="203200">
                <a:tc>
                  <a:txBody>
                    <a:bodyPr/>
                    <a:p>
                      <a:pPr algn="l" fontAlgn="b"/>
                      <a:r>
                        <a:rPr sz="1100" b="1" i="0">
                          <a:solidFill>
                            <a:srgbClr val="000000"/>
                          </a:solidFill>
                          <a:latin typeface="Calibri" panose="020F0502020204030204"/>
                          <a:ea typeface="Calibri" panose="020F0502020204030204"/>
                        </a:rPr>
                        <a:t>Ethnicity</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Count of Patient_ID</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203200">
                <a:tc>
                  <a:txBody>
                    <a:bodyPr/>
                    <a:p>
                      <a:pPr algn="l" fontAlgn="b"/>
                      <a:r>
                        <a:rPr sz="1100" b="1" i="0">
                          <a:solidFill>
                            <a:srgbClr val="FF0000"/>
                          </a:solidFill>
                          <a:latin typeface="Calibri" panose="020F0502020204030204"/>
                          <a:ea typeface="Calibri" panose="020F0502020204030204"/>
                        </a:rPr>
                        <a:t>African American</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1" i="0">
                          <a:solidFill>
                            <a:srgbClr val="FF0000"/>
                          </a:solidFill>
                          <a:latin typeface="Calibri" panose="020F0502020204030204"/>
                          <a:ea typeface="Calibri" panose="020F0502020204030204"/>
                        </a:rPr>
                        <a:t>208</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203200">
                <a:tc>
                  <a:txBody>
                    <a:bodyPr/>
                    <a:p>
                      <a:pPr algn="l" fontAlgn="b"/>
                      <a:r>
                        <a:rPr sz="1100" b="0" i="0">
                          <a:solidFill>
                            <a:srgbClr val="000000"/>
                          </a:solidFill>
                          <a:latin typeface="Calibri" panose="020F0502020204030204"/>
                          <a:ea typeface="Calibri" panose="020F0502020204030204"/>
                        </a:rPr>
                        <a:t>Asian</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202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03200">
                <a:tc>
                  <a:txBody>
                    <a:bodyPr/>
                    <a:p>
                      <a:pPr algn="l" fontAlgn="b"/>
                      <a:r>
                        <a:rPr sz="1100" b="0" i="0">
                          <a:solidFill>
                            <a:srgbClr val="000000"/>
                          </a:solidFill>
                          <a:latin typeface="Calibri" panose="020F0502020204030204"/>
                          <a:ea typeface="Calibri" panose="020F0502020204030204"/>
                        </a:rPr>
                        <a:t>Caucasian</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201</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03200">
                <a:tc>
                  <a:txBody>
                    <a:bodyPr/>
                    <a:p>
                      <a:pPr algn="l" fontAlgn="b"/>
                      <a:r>
                        <a:rPr sz="1100" b="0" i="0">
                          <a:solidFill>
                            <a:srgbClr val="000000"/>
                          </a:solidFill>
                          <a:latin typeface="Calibri" panose="020F0502020204030204"/>
                          <a:ea typeface="Calibri" panose="020F0502020204030204"/>
                        </a:rPr>
                        <a:t>Hispanic</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198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03200">
                <a:tc>
                  <a:txBody>
                    <a:bodyPr/>
                    <a:p>
                      <a:pPr algn="l" fontAlgn="b"/>
                      <a:r>
                        <a:rPr sz="1100" b="0" i="0">
                          <a:solidFill>
                            <a:srgbClr val="000000"/>
                          </a:solidFill>
                          <a:latin typeface="Calibri" panose="020F0502020204030204"/>
                          <a:ea typeface="Calibri" panose="020F0502020204030204"/>
                        </a:rPr>
                        <a:t>Other</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92D050"/>
                    </a:solidFill>
                  </a:tcPr>
                </a:tc>
                <a:tc>
                  <a:txBody>
                    <a:bodyPr/>
                    <a:p>
                      <a:pPr algn="r" fontAlgn="b"/>
                      <a:r>
                        <a:rPr sz="1100" b="0" i="0">
                          <a:solidFill>
                            <a:srgbClr val="000000"/>
                          </a:solidFill>
                          <a:latin typeface="Calibri" panose="020F0502020204030204"/>
                          <a:ea typeface="Calibri" panose="020F0502020204030204"/>
                        </a:rPr>
                        <a:t>191</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92D050"/>
                    </a:solidFill>
                  </a:tcPr>
                </a:tc>
              </a:tr>
              <a:tr h="203200">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1000</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graphicFrame>
        <p:nvGraphicFramePr>
          <p:cNvPr id="5" name="Chart 4"/>
          <p:cNvGraphicFramePr/>
          <p:nvPr/>
        </p:nvGraphicFramePr>
        <p:xfrm>
          <a:off x="4563745" y="2162175"/>
          <a:ext cx="4826000" cy="150812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Table 5"/>
          <p:cNvGraphicFramePr/>
          <p:nvPr>
            <p:custDataLst>
              <p:tags r:id="rId6"/>
            </p:custDataLst>
          </p:nvPr>
        </p:nvGraphicFramePr>
        <p:xfrm>
          <a:off x="1111250" y="4833620"/>
          <a:ext cx="4448810" cy="1249680"/>
        </p:xfrm>
        <a:graphic>
          <a:graphicData uri="http://schemas.openxmlformats.org/drawingml/2006/table">
            <a:tbl>
              <a:tblPr/>
              <a:tblGrid>
                <a:gridCol w="1835150"/>
                <a:gridCol w="2613660"/>
              </a:tblGrid>
              <a:tr h="208280">
                <a:tc>
                  <a:txBody>
                    <a:bodyPr/>
                    <a:p>
                      <a:pPr algn="l" fontAlgn="b"/>
                      <a:r>
                        <a:rPr sz="1100" b="1" i="0">
                          <a:solidFill>
                            <a:srgbClr val="000000"/>
                          </a:solidFill>
                          <a:latin typeface="Calibri" panose="020F0502020204030204"/>
                          <a:ea typeface="Calibri" panose="020F0502020204030204"/>
                        </a:rPr>
                        <a:t>Drug_Name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Average of Dose_Ad</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208280">
                <a:tc>
                  <a:txBody>
                    <a:bodyPr/>
                    <a:p>
                      <a:pPr algn="l" fontAlgn="b"/>
                      <a:r>
                        <a:rPr sz="1100" b="0" i="0">
                          <a:solidFill>
                            <a:srgbClr val="000000"/>
                          </a:solidFill>
                          <a:latin typeface="Calibri" panose="020F0502020204030204"/>
                          <a:ea typeface="Calibri" panose="020F0502020204030204"/>
                        </a:rPr>
                        <a:t>DrugC</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92D050"/>
                    </a:solidFill>
                  </a:tcPr>
                </a:tc>
                <a:tc>
                  <a:txBody>
                    <a:bodyPr/>
                    <a:p>
                      <a:pPr algn="r" fontAlgn="b"/>
                      <a:r>
                        <a:rPr sz="1100" b="0" i="0">
                          <a:solidFill>
                            <a:srgbClr val="000000"/>
                          </a:solidFill>
                          <a:latin typeface="Calibri" panose="020F0502020204030204"/>
                          <a:ea typeface="Calibri" panose="020F0502020204030204"/>
                        </a:rPr>
                        <a:t>121.8518519</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92D050"/>
                    </a:solidFill>
                  </a:tcPr>
                </a:tc>
              </a:tr>
              <a:tr h="208280">
                <a:tc>
                  <a:txBody>
                    <a:bodyPr/>
                    <a:p>
                      <a:pPr algn="l" fontAlgn="b"/>
                      <a:r>
                        <a:rPr sz="1100" b="0" i="0">
                          <a:solidFill>
                            <a:srgbClr val="000000"/>
                          </a:solidFill>
                          <a:latin typeface="Calibri" panose="020F0502020204030204"/>
                          <a:ea typeface="Calibri" panose="020F0502020204030204"/>
                        </a:rPr>
                        <a:t>DrugA</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123.7704918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08280">
                <a:tc>
                  <a:txBody>
                    <a:bodyPr/>
                    <a:p>
                      <a:pPr algn="l" fontAlgn="b"/>
                      <a:r>
                        <a:rPr sz="1100" b="0" i="0">
                          <a:solidFill>
                            <a:srgbClr val="000000"/>
                          </a:solidFill>
                          <a:latin typeface="Calibri" panose="020F0502020204030204"/>
                          <a:ea typeface="Calibri" panose="020F0502020204030204"/>
                        </a:rPr>
                        <a:t>DrugD</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124.7011952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08280">
                <a:tc>
                  <a:txBody>
                    <a:bodyPr/>
                    <a:p>
                      <a:pPr algn="l" fontAlgn="b"/>
                      <a:r>
                        <a:rPr sz="1100" b="0" i="0">
                          <a:solidFill>
                            <a:srgbClr val="FF0000"/>
                          </a:solidFill>
                          <a:latin typeface="Calibri" panose="020F0502020204030204"/>
                          <a:ea typeface="Calibri" panose="020F0502020204030204"/>
                        </a:rPr>
                        <a:t>DrugB</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FFC000"/>
                    </a:solidFill>
                  </a:tcPr>
                </a:tc>
                <a:tc>
                  <a:txBody>
                    <a:bodyPr/>
                    <a:p>
                      <a:pPr algn="r" fontAlgn="b"/>
                      <a:r>
                        <a:rPr sz="1100" b="0" i="0">
                          <a:solidFill>
                            <a:srgbClr val="FF0000"/>
                          </a:solidFill>
                          <a:latin typeface="Calibri" panose="020F0502020204030204"/>
                          <a:ea typeface="Calibri" panose="020F0502020204030204"/>
                        </a:rPr>
                        <a:t>130.6382979</a:t>
                      </a:r>
                      <a:endParaRPr sz="1100" b="0"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FFC000"/>
                    </a:solidFill>
                  </a:tcPr>
                </a:tc>
              </a:tr>
              <a:tr h="208280">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125.1</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graphicFrame>
        <p:nvGraphicFramePr>
          <p:cNvPr id="8" name="Chart 7"/>
          <p:cNvGraphicFramePr/>
          <p:nvPr/>
        </p:nvGraphicFramePr>
        <p:xfrm>
          <a:off x="5847080" y="3977640"/>
          <a:ext cx="4826000" cy="20097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p:nvPr>
            <p:custDataLst>
              <p:tags r:id="rId7"/>
            </p:custDataLst>
          </p:nvPr>
        </p:nvGraphicFramePr>
        <p:xfrm>
          <a:off x="1111250" y="3977640"/>
          <a:ext cx="4512310" cy="252095"/>
        </p:xfrm>
        <a:graphic>
          <a:graphicData uri="http://schemas.openxmlformats.org/drawingml/2006/table">
            <a:tbl>
              <a:tblPr/>
              <a:tblGrid>
                <a:gridCol w="3384550"/>
                <a:gridCol w="1127760"/>
              </a:tblGrid>
              <a:tr h="252095">
                <a:tc>
                  <a:txBody>
                    <a:bodyPr/>
                    <a:p>
                      <a:pPr algn="l" fontAlgn="b"/>
                      <a:r>
                        <a:rPr sz="1100" b="0" i="0">
                          <a:solidFill>
                            <a:srgbClr val="000000"/>
                          </a:solidFill>
                          <a:latin typeface="Calibri" panose="020F0502020204030204"/>
                          <a:ea typeface="Calibri" panose="020F0502020204030204"/>
                        </a:rPr>
                        <a:t>Most average dose administred</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l" fontAlgn="b"/>
                      <a:r>
                        <a:rPr sz="1100" b="0" i="0">
                          <a:solidFill>
                            <a:srgbClr val="70AD47"/>
                          </a:solidFill>
                          <a:latin typeface="Calibri" panose="020F0502020204030204"/>
                          <a:ea typeface="Calibri" panose="020F0502020204030204"/>
                        </a:rPr>
                        <a:t>:DRUG B</a:t>
                      </a:r>
                      <a:endParaRPr sz="1100" b="0" i="0">
                        <a:solidFill>
                          <a:srgbClr val="70AD47"/>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r>
            </a:tbl>
          </a:graphicData>
        </a:graphic>
      </p:graphicFrame>
      <p:graphicFrame>
        <p:nvGraphicFramePr>
          <p:cNvPr id="11" name="Table 10"/>
          <p:cNvGraphicFramePr/>
          <p:nvPr>
            <p:custDataLst>
              <p:tags r:id="rId8"/>
            </p:custDataLst>
          </p:nvPr>
        </p:nvGraphicFramePr>
        <p:xfrm>
          <a:off x="1109980" y="4277360"/>
          <a:ext cx="4513580" cy="342900"/>
        </p:xfrm>
        <a:graphic>
          <a:graphicData uri="http://schemas.openxmlformats.org/drawingml/2006/table">
            <a:tbl>
              <a:tblPr/>
              <a:tblGrid>
                <a:gridCol w="1128395"/>
                <a:gridCol w="1128395"/>
                <a:gridCol w="1128395"/>
                <a:gridCol w="1128395"/>
              </a:tblGrid>
              <a:tr h="342900">
                <a:tc>
                  <a:txBody>
                    <a:bodyPr/>
                    <a:p>
                      <a:pPr algn="l" fontAlgn="b"/>
                      <a:r>
                        <a:rPr sz="1100" b="0" i="0">
                          <a:solidFill>
                            <a:srgbClr val="000000"/>
                          </a:solidFill>
                          <a:latin typeface="Calibri" panose="020F0502020204030204"/>
                          <a:ea typeface="Calibri" panose="020F0502020204030204"/>
                        </a:rPr>
                        <a:t>Least average dose adminstered</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l" fontAlgn="b"/>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l" fontAlgn="b"/>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l" fontAlgn="b"/>
                      <a:r>
                        <a:rPr sz="1100" b="0" i="0">
                          <a:solidFill>
                            <a:srgbClr val="00B050"/>
                          </a:solidFill>
                          <a:latin typeface="Calibri" panose="020F0502020204030204"/>
                          <a:ea typeface="Calibri" panose="020F0502020204030204"/>
                        </a:rPr>
                        <a:t>:DRUG C</a:t>
                      </a:r>
                      <a:endParaRPr sz="1100" b="0" i="0">
                        <a:solidFill>
                          <a:srgbClr val="00B050"/>
                        </a:solidFill>
                        <a:latin typeface="Calibri" panose="020F0502020204030204"/>
                        <a:ea typeface="Calibri" panose="020F0502020204030204"/>
                      </a:endParaRPr>
                    </a:p>
                  </a:txBody>
                  <a:tcPr marL="7937" marR="7937" marT="7937" marB="0" anchor="b" anchorCtr="0">
                    <a:lnL>
                      <a:noFill/>
                    </a:lnL>
                    <a:lnR>
                      <a:noFill/>
                    </a:lnR>
                    <a:lnT>
                      <a:noFill/>
                    </a:lnT>
                    <a:lnB>
                      <a:noFill/>
                    </a:lnB>
                    <a:solidFill>
                      <a:srgbClr val="FFFF0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1582400" cy="1143000"/>
          </a:xfrm>
          <a:blipFill rotWithShape="1">
            <a:blip r:embed="rId1"/>
            <a:tile tx="0" ty="0" sx="100000" sy="100000" flip="none" algn="tl"/>
          </a:blipFill>
        </p:spPr>
        <p:txBody>
          <a:bodyPr>
            <a:scene3d>
              <a:camera prst="orthographicFront"/>
              <a:lightRig rig="threePt" dir="t"/>
            </a:scene3d>
          </a:bodyPr>
          <a:p>
            <a:r>
              <a:rPr lang="en-US" sz="2400" b="1">
                <a:ln w="22225">
                  <a:solidFill>
                    <a:schemeClr val="accent2"/>
                  </a:solidFill>
                  <a:prstDash val="solid"/>
                </a:ln>
                <a:solidFill>
                  <a:schemeClr val="accent2">
                    <a:lumMod val="40000"/>
                    <a:lumOff val="60000"/>
                  </a:schemeClr>
                </a:solidFill>
                <a:effectLst/>
              </a:rPr>
              <a:t>Technical Process</a:t>
            </a:r>
            <a:endParaRPr lang="en-US" sz="2400" b="1">
              <a:ln w="22225">
                <a:solidFill>
                  <a:schemeClr val="accent2"/>
                </a:solidFill>
                <a:prstDash val="solid"/>
              </a:ln>
              <a:solidFill>
                <a:schemeClr val="accent2">
                  <a:lumMod val="40000"/>
                  <a:lumOff val="60000"/>
                </a:schemeClr>
              </a:solidFill>
              <a:effectLst/>
            </a:endParaRPr>
          </a:p>
        </p:txBody>
      </p:sp>
      <p:sp>
        <p:nvSpPr>
          <p:cNvPr id="3" name="Content Placeholder 2"/>
          <p:cNvSpPr>
            <a:spLocks noGrp="1"/>
          </p:cNvSpPr>
          <p:nvPr>
            <p:ph idx="1"/>
          </p:nvPr>
        </p:nvSpPr>
        <p:spPr>
          <a:xfrm>
            <a:off x="469265" y="1600200"/>
            <a:ext cx="11722735" cy="5172075"/>
          </a:xfrm>
          <a:blipFill rotWithShape="1">
            <a:blip r:embed="rId1"/>
            <a:tile tx="0" ty="0" sx="100000" sy="100000" flip="none" algn="tl"/>
          </a:blipFill>
        </p:spPr>
        <p:txBody>
          <a:bodyPr/>
          <a:p>
            <a:r>
              <a:rPr lang="en-US" altLang="en-IN" sz="1600" b="1" dirty="0">
                <a:solidFill>
                  <a:schemeClr val="accent2"/>
                </a:solidFill>
                <a:sym typeface="+mn-ea"/>
              </a:rPr>
              <a:t>Technical Process </a:t>
            </a:r>
            <a:endParaRPr lang="en-US" altLang="en-IN" sz="1600" b="1" dirty="0">
              <a:solidFill>
                <a:schemeClr val="accent2"/>
              </a:solidFill>
              <a:sym typeface="+mn-ea"/>
            </a:endParaRPr>
          </a:p>
          <a:p>
            <a:pPr marL="0" indent="0">
              <a:buNone/>
            </a:pPr>
            <a:r>
              <a:rPr lang="en-US" altLang="en-US" sz="1600" dirty="0">
                <a:solidFill>
                  <a:schemeClr val="bg1"/>
                </a:solidFill>
                <a:sym typeface="+mn-ea"/>
              </a:rPr>
              <a:t>To analyze drug efficacy and patient response variability using genomics and clinical trial data for Pfizer, a robust data science and analytics pipeline is necessary. Here's a step-by-step breakdown of the technical process:</a:t>
            </a:r>
            <a:endParaRPr lang="en-US" altLang="en-US" sz="1600" dirty="0">
              <a:solidFill>
                <a:schemeClr val="bg1"/>
              </a:solidFill>
              <a:sym typeface="+mn-ea"/>
            </a:endParaRPr>
          </a:p>
          <a:p>
            <a:pPr marL="0" indent="0">
              <a:buNone/>
            </a:pPr>
            <a:r>
              <a:rPr lang="en-US" altLang="en-US" sz="1600" dirty="0">
                <a:solidFill>
                  <a:schemeClr val="bg1"/>
                </a:solidFill>
                <a:sym typeface="+mn-ea"/>
              </a:rPr>
              <a:t>1. Data Collection &amp; Integration</a:t>
            </a:r>
            <a:endParaRPr lang="en-US" altLang="en-US" sz="1600" dirty="0">
              <a:solidFill>
                <a:schemeClr val="bg1"/>
              </a:solidFill>
              <a:sym typeface="+mn-ea"/>
            </a:endParaRPr>
          </a:p>
          <a:p>
            <a:pPr marL="0" indent="0">
              <a:buNone/>
            </a:pPr>
            <a:r>
              <a:rPr lang="en-US" altLang="en-US" sz="1600" dirty="0">
                <a:solidFill>
                  <a:schemeClr val="bg1"/>
                </a:solidFill>
                <a:sym typeface="+mn-ea"/>
              </a:rPr>
              <a:t>Clinical Trial Data: Patient demographics, treatment details, side effects, progression-free survival (PFS), and outcomes.</a:t>
            </a:r>
            <a:endParaRPr lang="en-US" altLang="en-US" sz="1600" dirty="0">
              <a:solidFill>
                <a:schemeClr val="bg1"/>
              </a:solidFill>
              <a:sym typeface="+mn-ea"/>
            </a:endParaRPr>
          </a:p>
          <a:p>
            <a:pPr marL="0" indent="0">
              <a:buNone/>
            </a:pPr>
            <a:r>
              <a:rPr lang="en-US" altLang="en-US" sz="1600" dirty="0">
                <a:solidFill>
                  <a:schemeClr val="bg1"/>
                </a:solidFill>
                <a:sym typeface="+mn-ea"/>
              </a:rPr>
              <a:t>Electronic Health Records (EHRs): Real-world patient history, lab results, comorbidities, and prescriptions.</a:t>
            </a:r>
            <a:endParaRPr lang="en-US" altLang="en-US" sz="1600" dirty="0">
              <a:solidFill>
                <a:schemeClr val="bg1"/>
              </a:solidFill>
              <a:sym typeface="+mn-ea"/>
            </a:endParaRPr>
          </a:p>
          <a:p>
            <a:pPr marL="0" indent="0">
              <a:buNone/>
            </a:pPr>
            <a:r>
              <a:rPr lang="zh-CN" altLang="en-US" sz="1600" dirty="0">
                <a:solidFill>
                  <a:schemeClr val="bg1"/>
                </a:solidFill>
                <a:sym typeface="+mn-ea"/>
              </a:rPr>
              <a:t>💡</a:t>
            </a:r>
            <a:r>
              <a:rPr lang="en-US" altLang="en-US" sz="1600" dirty="0">
                <a:solidFill>
                  <a:schemeClr val="bg1"/>
                </a:solidFill>
                <a:sym typeface="+mn-ea"/>
              </a:rPr>
              <a:t> Tools: SQL, AWS/GCP/Azure for cloud storage, ETL pipelines (Apache Airflow, dbt).</a:t>
            </a:r>
            <a:endParaRPr lang="en-US" altLang="en-US" sz="1600" dirty="0">
              <a:solidFill>
                <a:schemeClr val="bg1"/>
              </a:solidFill>
              <a:sym typeface="+mn-ea"/>
            </a:endParaRPr>
          </a:p>
          <a:p>
            <a:pPr marL="0" indent="0">
              <a:buNone/>
            </a:pPr>
            <a:endParaRPr lang="en-US" altLang="en-US" sz="1600" dirty="0">
              <a:solidFill>
                <a:schemeClr val="bg1"/>
              </a:solidFill>
              <a:sym typeface="+mn-ea"/>
            </a:endParaRPr>
          </a:p>
          <a:p>
            <a:pPr marL="0" indent="0">
              <a:buNone/>
            </a:pPr>
            <a:r>
              <a:rPr lang="en-US" altLang="en-US" sz="1600" dirty="0">
                <a:solidFill>
                  <a:schemeClr val="bg1"/>
                </a:solidFill>
                <a:sym typeface="+mn-ea"/>
              </a:rPr>
              <a:t>2.Data Cleaning &amp; Preprocessing</a:t>
            </a:r>
            <a:endParaRPr lang="en-US" altLang="en-US" sz="1600" dirty="0">
              <a:solidFill>
                <a:schemeClr val="bg1"/>
              </a:solidFill>
              <a:sym typeface="+mn-ea"/>
            </a:endParaRPr>
          </a:p>
          <a:p>
            <a:pPr marL="0" indent="0">
              <a:buNone/>
            </a:pPr>
            <a:r>
              <a:rPr lang="en-US" altLang="en-US" sz="1600" dirty="0">
                <a:solidFill>
                  <a:schemeClr val="bg1"/>
                </a:solidFill>
                <a:sym typeface="+mn-ea"/>
              </a:rPr>
              <a:t>Missing Value Handling: Imputation techniques for missing genomics and clinical data.</a:t>
            </a:r>
            <a:endParaRPr lang="en-US" altLang="en-US" sz="1600" dirty="0">
              <a:solidFill>
                <a:schemeClr val="bg1"/>
              </a:solidFill>
              <a:sym typeface="+mn-ea"/>
            </a:endParaRPr>
          </a:p>
          <a:p>
            <a:pPr marL="0" indent="0">
              <a:buNone/>
            </a:pPr>
            <a:r>
              <a:rPr lang="en-US" altLang="en-US" sz="1600" dirty="0">
                <a:solidFill>
                  <a:schemeClr val="bg1"/>
                </a:solidFill>
                <a:sym typeface="+mn-ea"/>
              </a:rPr>
              <a:t>Normalization: Standardizing genomic features (e.g., log transformation for RNA-seq data).</a:t>
            </a:r>
            <a:endParaRPr lang="en-US" altLang="en-US" sz="1600" dirty="0">
              <a:solidFill>
                <a:schemeClr val="bg1"/>
              </a:solidFill>
              <a:sym typeface="+mn-ea"/>
            </a:endParaRPr>
          </a:p>
          <a:p>
            <a:pPr marL="0" indent="0">
              <a:buNone/>
            </a:pPr>
            <a:r>
              <a:rPr lang="en-US" altLang="en-US" sz="1600" dirty="0">
                <a:solidFill>
                  <a:schemeClr val="bg1"/>
                </a:solidFill>
                <a:sym typeface="+mn-ea"/>
              </a:rPr>
              <a:t>Feature Engineering:</a:t>
            </a:r>
            <a:endParaRPr lang="en-US" altLang="en-US" sz="1600" dirty="0">
              <a:solidFill>
                <a:schemeClr val="bg1"/>
              </a:solidFill>
              <a:sym typeface="+mn-ea"/>
            </a:endParaRPr>
          </a:p>
          <a:p>
            <a:pPr marL="0" indent="0">
              <a:buNone/>
            </a:pPr>
            <a:r>
              <a:rPr lang="en-US" altLang="en-US" sz="1600" dirty="0">
                <a:solidFill>
                  <a:schemeClr val="bg1"/>
                </a:solidFill>
                <a:sym typeface="+mn-ea"/>
              </a:rPr>
              <a:t>Extracting biomarkers (e.g., mutations, expression levels).</a:t>
            </a:r>
            <a:endParaRPr lang="en-US" altLang="en-US" sz="1600" dirty="0">
              <a:solidFill>
                <a:schemeClr val="bg1"/>
              </a:solidFill>
              <a:sym typeface="+mn-ea"/>
            </a:endParaRPr>
          </a:p>
          <a:p>
            <a:pPr marL="0" indent="0">
              <a:buNone/>
            </a:pPr>
            <a:r>
              <a:rPr lang="en-US" altLang="en-US" sz="1600" dirty="0">
                <a:solidFill>
                  <a:schemeClr val="bg1"/>
                </a:solidFill>
                <a:sym typeface="+mn-ea"/>
              </a:rPr>
              <a:t>Encoding categorical clinical data (e.g., one-hot encoding).</a:t>
            </a:r>
            <a:endParaRPr lang="en-US" altLang="en-US" sz="1600" dirty="0">
              <a:solidFill>
                <a:schemeClr val="bg1"/>
              </a:solidFill>
              <a:sym typeface="+mn-ea"/>
            </a:endParaRPr>
          </a:p>
          <a:p>
            <a:pPr marL="0" indent="0">
              <a:buNone/>
            </a:pPr>
            <a:r>
              <a:rPr lang="en-US" altLang="en-US" sz="1600" dirty="0">
                <a:solidFill>
                  <a:schemeClr val="bg1"/>
                </a:solidFill>
                <a:sym typeface="+mn-ea"/>
              </a:rPr>
              <a:t>Creating survival analysis variables (e.g., time-to-event, censored data handling).</a:t>
            </a:r>
            <a:endParaRPr lang="en-US" altLang="en-US" sz="1600" dirty="0">
              <a:solidFill>
                <a:schemeClr val="bg1"/>
              </a:solidFill>
              <a:sym typeface="+mn-ea"/>
            </a:endParaRPr>
          </a:p>
          <a:p>
            <a:pPr marL="0" indent="0">
              <a:buNone/>
            </a:pPr>
            <a:r>
              <a:rPr lang="en-US" altLang="en-US" sz="1600" dirty="0">
                <a:solidFill>
                  <a:schemeClr val="bg1"/>
                </a:solidFill>
                <a:sym typeface="+mn-ea"/>
              </a:rPr>
              <a:t>Data Harmonization: Aligning heterogeneous datasets (genomics, clinical, real-world data).</a:t>
            </a:r>
            <a:endParaRPr lang="en-US" altLang="en-US" sz="1600" dirty="0">
              <a:solidFill>
                <a:schemeClr val="bg1"/>
              </a:solidFill>
              <a:sym typeface="+mn-ea"/>
            </a:endParaRPr>
          </a:p>
          <a:p>
            <a:pPr marL="0" indent="0">
              <a:buNone/>
            </a:pPr>
            <a:r>
              <a:rPr lang="zh-CN" altLang="en-US" sz="1600" dirty="0">
                <a:solidFill>
                  <a:schemeClr val="bg1"/>
                </a:solidFill>
                <a:sym typeface="+mn-ea"/>
              </a:rPr>
              <a:t>💡</a:t>
            </a:r>
            <a:r>
              <a:rPr lang="en-US" altLang="en-US" sz="1600" dirty="0">
                <a:solidFill>
                  <a:schemeClr val="bg1"/>
                </a:solidFill>
                <a:sym typeface="+mn-ea"/>
              </a:rPr>
              <a:t> Tools: Excel Pivot table</a:t>
            </a:r>
            <a:endParaRPr lang="en-US" altLang="en-US" sz="1600" dirty="0">
              <a:solidFill>
                <a:schemeClr val="bg1"/>
              </a:solidFill>
              <a:sym typeface="+mn-ea"/>
            </a:endParaRPr>
          </a:p>
        </p:txBody>
      </p:sp>
      <p:pic>
        <p:nvPicPr>
          <p:cNvPr id="10" name="Picture 9" descr="LOGo2"/>
          <p:cNvPicPr>
            <a:picLocks noChangeAspect="1"/>
          </p:cNvPicPr>
          <p:nvPr/>
        </p:nvPicPr>
        <p:blipFill>
          <a:blip r:embed="rId2"/>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74955"/>
            <a:ext cx="12192000" cy="1143000"/>
          </a:xfrm>
          <a:blipFill>
            <a:blip r:embed="rId1"/>
          </a:blipFill>
        </p:spPr>
        <p:txBody>
          <a:bodyPr/>
          <a:p>
            <a:r>
              <a:rPr lang="en-US" sz="2400" b="1">
                <a:ln w="22225">
                  <a:solidFill>
                    <a:schemeClr val="accent2"/>
                  </a:solidFill>
                  <a:prstDash val="solid"/>
                </a:ln>
                <a:solidFill>
                  <a:schemeClr val="accent2">
                    <a:lumMod val="40000"/>
                    <a:lumOff val="60000"/>
                  </a:schemeClr>
                </a:solidFill>
                <a:effectLst/>
              </a:rPr>
              <a:t>Conclusion</a:t>
            </a:r>
            <a:endParaRPr lang="en-US" sz="2400" b="1">
              <a:ln w="22225">
                <a:solidFill>
                  <a:schemeClr val="accent2"/>
                </a:solidFill>
                <a:prstDash val="solid"/>
              </a:ln>
              <a:solidFill>
                <a:schemeClr val="accent2">
                  <a:lumMod val="40000"/>
                  <a:lumOff val="60000"/>
                </a:schemeClr>
              </a:solidFill>
              <a:effectLst/>
            </a:endParaRPr>
          </a:p>
        </p:txBody>
      </p:sp>
      <p:sp>
        <p:nvSpPr>
          <p:cNvPr id="3" name="Content Placeholder 2"/>
          <p:cNvSpPr>
            <a:spLocks noGrp="1"/>
          </p:cNvSpPr>
          <p:nvPr>
            <p:ph idx="1"/>
          </p:nvPr>
        </p:nvSpPr>
        <p:spPr>
          <a:xfrm>
            <a:off x="609600" y="1600200"/>
            <a:ext cx="11523980" cy="5257165"/>
          </a:xfrm>
          <a:blipFill>
            <a:blip r:embed="rId1"/>
          </a:blipFill>
        </p:spPr>
        <p:txBody>
          <a:bodyPr/>
          <a:p>
            <a:r>
              <a:rPr lang="en-US" sz="2000" b="1" u="sng">
                <a:solidFill>
                  <a:schemeClr val="bg1"/>
                </a:solidFill>
              </a:rPr>
              <a:t>Conclusion</a:t>
            </a:r>
            <a:endParaRPr lang="en-US" sz="2000" b="1" u="sng">
              <a:solidFill>
                <a:schemeClr val="bg1"/>
              </a:solidFill>
            </a:endParaRPr>
          </a:p>
          <a:p>
            <a:pPr marL="0" indent="0">
              <a:buNone/>
            </a:pPr>
            <a:endParaRPr lang="en-US" altLang="en-US" sz="1600">
              <a:solidFill>
                <a:schemeClr val="bg1"/>
              </a:solidFill>
            </a:endParaRPr>
          </a:p>
          <a:p>
            <a:pPr marL="0" indent="0">
              <a:buNone/>
            </a:pPr>
            <a:r>
              <a:rPr lang="en-US" altLang="en-US" sz="1600">
                <a:solidFill>
                  <a:schemeClr val="bg1"/>
                </a:solidFill>
              </a:rPr>
              <a:t>This analysis of drug efficacy and patient response variability using genomics and clinical trial data provides valuable insights to enhance personalized medicine and optimize clinical trial designs.</a:t>
            </a:r>
            <a:endParaRPr lang="en-US" altLang="en-US" sz="1600">
              <a:solidFill>
                <a:schemeClr val="bg1"/>
              </a:solidFill>
            </a:endParaRPr>
          </a:p>
          <a:p>
            <a:pPr marL="0" indent="0">
              <a:buNone/>
            </a:pPr>
            <a:r>
              <a:rPr lang="en-US" altLang="en-US" sz="1600">
                <a:solidFill>
                  <a:schemeClr val="bg1"/>
                </a:solidFill>
              </a:rPr>
              <a:t>✔ Key Findings:</a:t>
            </a:r>
            <a:endParaRPr lang="en-US" altLang="en-US" sz="1600">
              <a:solidFill>
                <a:schemeClr val="bg1"/>
              </a:solidFill>
            </a:endParaRPr>
          </a:p>
          <a:p>
            <a:r>
              <a:rPr lang="en-US" altLang="en-US" sz="1600">
                <a:solidFill>
                  <a:schemeClr val="bg1"/>
                </a:solidFill>
              </a:rPr>
              <a:t>Patient demographics (age, gender, ethnicity) and genetic factors significantly impact drug efficacy.</a:t>
            </a:r>
            <a:endParaRPr lang="en-US" altLang="en-US" sz="1600">
              <a:solidFill>
                <a:schemeClr val="bg1"/>
              </a:solidFill>
            </a:endParaRPr>
          </a:p>
          <a:p>
            <a:r>
              <a:rPr lang="en-US" altLang="en-US" sz="1600">
                <a:solidFill>
                  <a:schemeClr val="bg1"/>
                </a:solidFill>
              </a:rPr>
              <a:t>Patterns in adverse drug reactions help identify high-risk patient groups and improve drug safety.</a:t>
            </a:r>
            <a:endParaRPr lang="en-US" altLang="en-US" sz="1600">
              <a:solidFill>
                <a:schemeClr val="bg1"/>
              </a:solidFill>
            </a:endParaRPr>
          </a:p>
          <a:p>
            <a:r>
              <a:rPr lang="en-US" altLang="en-US" sz="1600">
                <a:solidFill>
                  <a:schemeClr val="bg1"/>
                </a:solidFill>
              </a:rPr>
              <a:t>Progression-Free Survival (PFS) analysis reveals the most effective treatment plans for different patient subgroups.</a:t>
            </a:r>
            <a:endParaRPr lang="en-US" altLang="en-US" sz="1600">
              <a:solidFill>
                <a:schemeClr val="bg1"/>
              </a:solidFill>
            </a:endParaRPr>
          </a:p>
          <a:p>
            <a:pPr marL="0" indent="0">
              <a:buNone/>
            </a:pPr>
            <a:r>
              <a:rPr lang="en-US" altLang="en-US" sz="1600">
                <a:solidFill>
                  <a:schemeClr val="bg1"/>
                </a:solidFill>
              </a:rPr>
              <a:t>✔ Impact &amp; Benefits:</a:t>
            </a:r>
            <a:endParaRPr lang="en-US" altLang="en-US" sz="1600">
              <a:solidFill>
                <a:schemeClr val="bg1"/>
              </a:solidFill>
            </a:endParaRPr>
          </a:p>
          <a:p>
            <a:r>
              <a:rPr lang="en-US" altLang="en-US" sz="1600">
                <a:solidFill>
                  <a:schemeClr val="bg1"/>
                </a:solidFill>
              </a:rPr>
              <a:t>Personalized Treatment: Tailors medications based on genetic &amp; demographic profiles.</a:t>
            </a:r>
            <a:endParaRPr lang="en-US" altLang="en-US" sz="1600">
              <a:solidFill>
                <a:schemeClr val="bg1"/>
              </a:solidFill>
            </a:endParaRPr>
          </a:p>
          <a:p>
            <a:r>
              <a:rPr lang="en-US" altLang="en-US" sz="1600">
                <a:solidFill>
                  <a:schemeClr val="bg1"/>
                </a:solidFill>
              </a:rPr>
              <a:t>Optimized Clinical Trials: Improves patient selection, reduces dropout rates, and enhances trial efficiency.</a:t>
            </a:r>
            <a:endParaRPr lang="en-US" altLang="en-US" sz="1600">
              <a:solidFill>
                <a:schemeClr val="bg1"/>
              </a:solidFill>
            </a:endParaRPr>
          </a:p>
          <a:p>
            <a:r>
              <a:rPr lang="en-US" altLang="en-US" sz="1600">
                <a:solidFill>
                  <a:schemeClr val="bg1"/>
                </a:solidFill>
              </a:rPr>
              <a:t>Reduced Adverse Effects: Identifies vulnerable populations for better drug safety and regulation compliance.</a:t>
            </a:r>
            <a:endParaRPr lang="en-US" altLang="en-US" sz="1600">
              <a:solidFill>
                <a:schemeClr val="bg1"/>
              </a:solidFill>
            </a:endParaRPr>
          </a:p>
        </p:txBody>
      </p:sp>
      <p:pic>
        <p:nvPicPr>
          <p:cNvPr id="10" name="Picture 9" descr="LOGo2"/>
          <p:cNvPicPr>
            <a:picLocks noChangeAspect="1"/>
          </p:cNvPicPr>
          <p:nvPr/>
        </p:nvPicPr>
        <p:blipFill>
          <a:blip r:embed="rId2"/>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1582400" cy="1143000"/>
          </a:xfrm>
          <a:blipFill>
            <a:blip r:embed="rId1"/>
          </a:blipFill>
        </p:spPr>
        <p:txBody>
          <a:bodyPr/>
          <a:p>
            <a:endParaRPr lang="en-US"/>
          </a:p>
        </p:txBody>
      </p:sp>
      <p:sp>
        <p:nvSpPr>
          <p:cNvPr id="3" name="Content Placeholder 2"/>
          <p:cNvSpPr>
            <a:spLocks noGrp="1"/>
          </p:cNvSpPr>
          <p:nvPr>
            <p:ph idx="1"/>
          </p:nvPr>
        </p:nvSpPr>
        <p:spPr>
          <a:xfrm>
            <a:off x="609600" y="1600200"/>
            <a:ext cx="11582400" cy="5257800"/>
          </a:xfrm>
          <a:blipFill>
            <a:blip r:embed="rId1"/>
          </a:blipFill>
        </p:spPr>
        <p:txBody>
          <a:bodyPr/>
          <a:p>
            <a:pPr marL="0" indent="0" algn="ctr">
              <a:buNone/>
            </a:pPr>
            <a:r>
              <a:rPr lang="en-US" altLang="en-US" sz="2000">
                <a:solidFill>
                  <a:schemeClr val="bg1"/>
                </a:solidFill>
              </a:rPr>
              <a:t>THANK YOU</a:t>
            </a:r>
            <a:endParaRPr lang="en-US" altLang="en-US" sz="2000">
              <a:solidFill>
                <a:schemeClr val="bg1"/>
              </a:solidFill>
            </a:endParaRPr>
          </a:p>
          <a:p>
            <a:endParaRPr lang="en-US" altLang="en-US" sz="2000">
              <a:solidFill>
                <a:schemeClr val="bg1"/>
              </a:solidFill>
            </a:endParaRPr>
          </a:p>
          <a:p>
            <a:pPr marL="0" indent="0" algn="ctr">
              <a:buNone/>
            </a:pPr>
            <a:r>
              <a:rPr lang="en-US" altLang="en-US" sz="2000">
                <a:solidFill>
                  <a:schemeClr val="bg1"/>
                </a:solidFill>
              </a:rPr>
              <a:t>For Any QUERY CONTACT US on</a:t>
            </a:r>
            <a:endParaRPr lang="en-US" altLang="en-US" sz="2000">
              <a:solidFill>
                <a:schemeClr val="bg1"/>
              </a:solidFill>
            </a:endParaRPr>
          </a:p>
          <a:p>
            <a:endParaRPr lang="en-US" altLang="en-US" sz="2000">
              <a:solidFill>
                <a:schemeClr val="bg1"/>
              </a:solidFill>
            </a:endParaRPr>
          </a:p>
          <a:p>
            <a:r>
              <a:rPr lang="en-US" altLang="en-US" sz="2000">
                <a:solidFill>
                  <a:schemeClr val="bg1"/>
                </a:solidFill>
              </a:rPr>
              <a:t>  suhane79jaya@gmail.com</a:t>
            </a:r>
            <a:endParaRPr lang="en-US" altLang="en-US" sz="2000">
              <a:solidFill>
                <a:schemeClr val="bg1"/>
              </a:solidFill>
            </a:endParaRPr>
          </a:p>
          <a:p>
            <a:endParaRPr lang="en-US" altLang="en-US" sz="2000">
              <a:solidFill>
                <a:schemeClr val="bg1"/>
              </a:solidFill>
            </a:endParaRPr>
          </a:p>
          <a:p>
            <a:endParaRPr lang="en-US" altLang="en-US" sz="2000">
              <a:solidFill>
                <a:schemeClr val="bg1"/>
              </a:solidFill>
            </a:endParaRPr>
          </a:p>
          <a:p>
            <a:pPr marL="457200" lvl="1" indent="0">
              <a:buNone/>
            </a:pPr>
            <a:r>
              <a:rPr lang="en-US" altLang="en-US" sz="1750">
                <a:solidFill>
                  <a:schemeClr val="bg1"/>
                </a:solidFill>
              </a:rPr>
              <a:t>https://www.linkedin.com/in/jaya-suhane-776142275/</a:t>
            </a:r>
            <a:endParaRPr lang="en-US" altLang="en-US" sz="1750">
              <a:solidFill>
                <a:schemeClr val="bg1"/>
              </a:solidFill>
            </a:endParaRPr>
          </a:p>
          <a:p>
            <a:endParaRPr lang="en-US" altLang="en-US" sz="2000">
              <a:solidFill>
                <a:schemeClr val="bg1"/>
              </a:solidFill>
            </a:endParaRPr>
          </a:p>
          <a:p>
            <a:endParaRPr lang="en-US" altLang="en-US" sz="2000">
              <a:solidFill>
                <a:schemeClr val="bg1"/>
              </a:solidFill>
            </a:endParaRPr>
          </a:p>
          <a:p>
            <a:r>
              <a:rPr lang="en-US" altLang="en-US" sz="2000">
                <a:solidFill>
                  <a:schemeClr val="bg1"/>
                </a:solidFill>
              </a:rPr>
              <a:t>    peerlist.io/jayasuhane/</a:t>
            </a:r>
            <a:endParaRPr lang="en-US" altLang="en-US" sz="2000">
              <a:solidFill>
                <a:schemeClr val="bg1"/>
              </a:solidFill>
            </a:endParaRPr>
          </a:p>
          <a:p>
            <a:endParaRPr lang="en-US" altLang="en-US" sz="2000">
              <a:solidFill>
                <a:schemeClr val="bg1"/>
              </a:solidFill>
            </a:endParaRPr>
          </a:p>
          <a:p>
            <a:endParaRPr lang="en-US" altLang="en-US" sz="2000">
              <a:solidFill>
                <a:schemeClr val="bg1"/>
              </a:solidFill>
            </a:endParaRPr>
          </a:p>
        </p:txBody>
      </p:sp>
      <p:pic>
        <p:nvPicPr>
          <p:cNvPr id="10" name="Picture 9" descr="LOGo2"/>
          <p:cNvPicPr>
            <a:picLocks noChangeAspect="1"/>
          </p:cNvPicPr>
          <p:nvPr/>
        </p:nvPicPr>
        <p:blipFill>
          <a:blip r:embed="rId2"/>
          <a:stretch>
            <a:fillRect/>
          </a:stretch>
        </p:blipFill>
        <p:spPr>
          <a:xfrm>
            <a:off x="828040" y="485775"/>
            <a:ext cx="2571750" cy="721360"/>
          </a:xfrm>
          <a:prstGeom prst="rect">
            <a:avLst/>
          </a:prstGeom>
          <a:pattFill prst="pct5">
            <a:fgClr>
              <a:schemeClr val="accent6">
                <a:lumMod val="60000"/>
                <a:lumOff val="40000"/>
              </a:schemeClr>
            </a:fgClr>
            <a:bgClr>
              <a:schemeClr val="accent3">
                <a:lumMod val="95000"/>
              </a:schemeClr>
            </a:bgClr>
          </a:pattFill>
        </p:spPr>
      </p:pic>
      <p:sp>
        <p:nvSpPr>
          <p:cNvPr id="4" name="Freeform 3"/>
          <p:cNvSpPr/>
          <p:nvPr/>
        </p:nvSpPr>
        <p:spPr>
          <a:xfrm>
            <a:off x="705168" y="3074988"/>
            <a:ext cx="396875" cy="353695"/>
          </a:xfrm>
          <a:custGeom>
            <a:avLst/>
            <a:gdLst/>
            <a:ahLst/>
            <a:cxnLst/>
            <a:rect l="l" t="t" r="r" b="b"/>
            <a:pathLst>
              <a:path w="625831" h="625831">
                <a:moveTo>
                  <a:pt x="0" y="0"/>
                </a:moveTo>
                <a:lnTo>
                  <a:pt x="625832" y="0"/>
                </a:lnTo>
                <a:lnTo>
                  <a:pt x="625832" y="625831"/>
                </a:lnTo>
                <a:lnTo>
                  <a:pt x="0" y="625831"/>
                </a:lnTo>
                <a:lnTo>
                  <a:pt x="0" y="0"/>
                </a:lnTo>
                <a:close/>
              </a:path>
            </a:pathLst>
          </a:custGeom>
          <a:blipFill>
            <a:blip r:embed="rId3"/>
            <a:stretch>
              <a:fillRect/>
            </a:stretch>
          </a:blipFill>
        </p:spPr>
      </p:sp>
      <p:sp>
        <p:nvSpPr>
          <p:cNvPr id="11" name="Freeform 4"/>
          <p:cNvSpPr/>
          <p:nvPr/>
        </p:nvSpPr>
        <p:spPr>
          <a:xfrm>
            <a:off x="609283" y="4072255"/>
            <a:ext cx="563880" cy="510540"/>
          </a:xfrm>
          <a:custGeom>
            <a:avLst/>
            <a:gdLst/>
            <a:ahLst/>
            <a:cxnLst/>
            <a:rect l="l" t="t" r="r" b="b"/>
            <a:pathLst>
              <a:path w="924707" h="924707">
                <a:moveTo>
                  <a:pt x="0" y="0"/>
                </a:moveTo>
                <a:lnTo>
                  <a:pt x="924706" y="0"/>
                </a:lnTo>
                <a:lnTo>
                  <a:pt x="924706" y="924707"/>
                </a:lnTo>
                <a:lnTo>
                  <a:pt x="0" y="924707"/>
                </a:lnTo>
                <a:lnTo>
                  <a:pt x="0" y="0"/>
                </a:lnTo>
                <a:close/>
              </a:path>
            </a:pathLst>
          </a:custGeom>
          <a:blipFill>
            <a:blip r:embed="rId4"/>
            <a:stretch>
              <a:fillRect/>
            </a:stretch>
          </a:blipFill>
        </p:spPr>
      </p:sp>
      <p:sp>
        <p:nvSpPr>
          <p:cNvPr id="12" name="Freeform 5"/>
          <p:cNvSpPr/>
          <p:nvPr/>
        </p:nvSpPr>
        <p:spPr>
          <a:xfrm>
            <a:off x="643255" y="5152390"/>
            <a:ext cx="530225" cy="535940"/>
          </a:xfrm>
          <a:custGeom>
            <a:avLst/>
            <a:gdLst/>
            <a:ahLst/>
            <a:cxnLst/>
            <a:rect l="l" t="t" r="r" b="b"/>
            <a:pathLst>
              <a:path w="1170174" h="865928">
                <a:moveTo>
                  <a:pt x="0" y="0"/>
                </a:moveTo>
                <a:lnTo>
                  <a:pt x="1170173" y="0"/>
                </a:lnTo>
                <a:lnTo>
                  <a:pt x="1170173" y="865928"/>
                </a:lnTo>
                <a:lnTo>
                  <a:pt x="0" y="865928"/>
                </a:lnTo>
                <a:lnTo>
                  <a:pt x="0" y="0"/>
                </a:lnTo>
                <a:close/>
              </a:path>
            </a:pathLst>
          </a:custGeom>
          <a:blipFill>
            <a:blip r:embed="rId5"/>
            <a:stretch>
              <a:fillRect/>
            </a:stretch>
          </a:blipFill>
        </p:spPr>
      </p:sp>
    </p:spTree>
  </p:cSld>
  <p:clrMapOvr>
    <a:masterClrMapping/>
  </p:clrMapOvr>
</p:sld>
</file>

<file path=ppt/tags/tag1.xml><?xml version="1.0" encoding="utf-8"?>
<p:tagLst xmlns:p="http://schemas.openxmlformats.org/presentationml/2006/main">
  <p:tag name="TABLE_ENDDRAG_ORIGIN_RECT" val="223*148"/>
  <p:tag name="TABLE_ENDDRAG_RECT" val="36*202*223*148"/>
</p:tagLst>
</file>

<file path=ppt/tags/tag2.xml><?xml version="1.0" encoding="utf-8"?>
<p:tagLst xmlns:p="http://schemas.openxmlformats.org/presentationml/2006/main">
  <p:tag name="TABLE_ENDDRAG_ORIGIN_RECT" val="238*149"/>
  <p:tag name="TABLE_ENDDRAG_RECT" val="36*380*238*149"/>
</p:tagLst>
</file>

<file path=ppt/tags/tag3.xml><?xml version="1.0" encoding="utf-8"?>
<p:tagLst xmlns:p="http://schemas.openxmlformats.org/presentationml/2006/main">
  <p:tag name="TABLE_ENDDRAG_ORIGIN_RECT" val="338*270"/>
  <p:tag name="TABLE_ENDDRAG_RECT" val="97*180*338*270"/>
</p:tagLst>
</file>

<file path=ppt/tags/tag4.xml><?xml version="1.0" encoding="utf-8"?>
<p:tagLst xmlns:p="http://schemas.openxmlformats.org/presentationml/2006/main">
  <p:tag name="TABLE_ENDDRAG_ORIGIN_RECT" val="253*111"/>
  <p:tag name="TABLE_ENDDRAG_RECT" val="83*170*253*112"/>
</p:tagLst>
</file>

<file path=ppt/tags/tag5.xml><?xml version="1.0" encoding="utf-8"?>
<p:tagLst xmlns:p="http://schemas.openxmlformats.org/presentationml/2006/main">
  <p:tag name="TABLE_ENDDRAG_ORIGIN_RECT" val="350*98"/>
  <p:tag name="TABLE_ENDDRAG_RECT" val="87*380*350*98"/>
</p:tagLst>
</file>

<file path=ppt/tags/tag6.xml><?xml version="1.0" encoding="utf-8"?>
<p:tagLst xmlns:p="http://schemas.openxmlformats.org/presentationml/2006/main">
  <p:tag name="TABLE_ENDDRAG_ORIGIN_RECT" val="355*19"/>
  <p:tag name="TABLE_ENDDRAG_RECT" val="87*313*355*19"/>
</p:tagLst>
</file>

<file path=ppt/tags/tag7.xml><?xml version="1.0" encoding="utf-8"?>
<p:tagLst xmlns:p="http://schemas.openxmlformats.org/presentationml/2006/main">
  <p:tag name="TABLE_ENDDRAG_ORIGIN_RECT" val="355*26"/>
  <p:tag name="TABLE_ENDDRAG_RECT" val="87*337*355*26"/>
</p:tagLst>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8.xml><?xml version="1.0" encoding="utf-8"?>
<ds:datastoreItem xmlns:ds="http://schemas.openxmlformats.org/officeDocument/2006/customXml" ds:itemID="{B975FBC4-9D33-46BE-911D-419763BA9AF9}">
  <ds:schemaRefs/>
</ds:datastoreItem>
</file>

<file path=customXml/itemProps9.xml><?xml version="1.0" encoding="utf-8"?>
<ds:datastoreItem xmlns:ds="http://schemas.openxmlformats.org/officeDocument/2006/customXml" ds:itemID="{294F055B-D391-44D3-A87A-BCD07BD5A31C}">
  <ds:schemaRefs/>
</ds:datastoreItem>
</file>

<file path=customXml/itemProps10.xml><?xml version="1.0" encoding="utf-8"?>
<ds:datastoreItem xmlns:ds="http://schemas.openxmlformats.org/officeDocument/2006/customXml" ds:itemID="{26DBD101-FC0A-4B21-82B0-57CAA7AEEC71}">
  <ds:schemaRefs/>
</ds:datastoreItem>
</file>

<file path=docProps/app.xml><?xml version="1.0" encoding="utf-8"?>
<Properties xmlns="http://schemas.openxmlformats.org/officeDocument/2006/extended-properties" xmlns:vt="http://schemas.openxmlformats.org/officeDocument/2006/docPropsVTypes">
  <Template>{F2058167-5438-4DBF-B386-F083B6BE7475}tf56219246_win32</Template>
  <TotalTime>0</TotalTime>
  <Words>6521</Words>
  <Application>WPS Presentation</Application>
  <PresentationFormat>Widescreen</PresentationFormat>
  <Paragraphs>345</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Calibri</vt:lpstr>
      <vt:lpstr>Times New Roman</vt:lpstr>
      <vt:lpstr>Calibri</vt:lpstr>
      <vt:lpstr>Microsoft YaHei</vt:lpstr>
      <vt:lpstr>Arial Unicode MS</vt:lpstr>
      <vt:lpstr>Business Cooperate</vt:lpstr>
      <vt:lpstr> Case Study  Pfizer’s Personalized Medicine Initiative  </vt:lpstr>
      <vt:lpstr>PowerPoint 演示文稿</vt:lpstr>
      <vt:lpstr>Introduction</vt:lpstr>
      <vt:lpstr>  </vt:lpstr>
      <vt:lpstr>Project Scope &amp; Goals </vt:lpstr>
      <vt:lpstr>KPI’s[Key Performance Indicator]</vt:lpstr>
      <vt:lpstr>KPI’s[Key Performance Indicator]</vt:lpstr>
      <vt:lpstr>KPI’s[Key Performance Indicator]</vt:lpstr>
      <vt:lpstr>Technical Process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nagariya</dc:creator>
  <cp:lastModifiedBy>jaya nagariya</cp:lastModifiedBy>
  <cp:revision>47</cp:revision>
  <dcterms:created xsi:type="dcterms:W3CDTF">2025-02-17T06:14:00Z</dcterms:created>
  <dcterms:modified xsi:type="dcterms:W3CDTF">2025-02-17T09:40:22Z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BEB5AD44B97C4D41ADC36EB037B2E7C4_12</vt:lpwstr>
  </property>
  <property fmtid="{D5CDD505-2E9C-101B-9397-08002B2CF9AE}" pid="4" name="KSOProductBuildVer">
    <vt:lpwstr>1033-12.2.0.19805</vt:lpwstr>
  </property>
</Properties>
</file>